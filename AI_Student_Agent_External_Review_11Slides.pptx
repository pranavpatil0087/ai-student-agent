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70" r:id="rId2"/>
    <p:sldId id="271" r:id="rId3"/>
    <p:sldId id="291" r:id="rId4"/>
    <p:sldId id="292" r:id="rId5"/>
    <p:sldId id="293" r:id="rId6"/>
    <p:sldId id="294" r:id="rId7"/>
    <p:sldId id="295" r:id="rId8"/>
    <p:sldId id="296" r:id="rId9"/>
    <p:sldId id="298" r:id="rId10"/>
    <p:sldId id="290" r:id="rId11"/>
    <p:sldId id="267" r:id="rId1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WkRhyvlVRw74fboU9iUIVzPuI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86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22" Type="http://customschemas.google.com/relationships/presentationmetadata" Target="meta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2f13355470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2f13355470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201" name="Google Shape;201;g22f13355470_0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457200" y="2286000"/>
            <a:ext cx="8229600" cy="407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❑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❑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❑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❑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❑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▪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2536824" y="206375"/>
            <a:ext cx="407035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457200" y="2286000"/>
            <a:ext cx="8229600" cy="407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900" y="2324883"/>
            <a:ext cx="7696200" cy="1295400"/>
          </a:xfrm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333333"/>
                </a:solidFill>
                <a:latin typeface="Times New Roman"/>
              </a:defRPr>
            </a:pPr>
            <a:r>
              <a:t>A Presentation</a:t>
            </a:r>
            <a:endParaRPr lang="en-IN" sz="19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on</a:t>
            </a:r>
          </a:p>
          <a:p>
            <a:pPr algn="ctr">
              <a:spcAft>
                <a:spcPts val="1000"/>
              </a:spcAft>
              <a:defRPr sz="2000" b="1">
                <a:solidFill>
                  <a:srgbClr val="BC312C"/>
                </a:solidFill>
                <a:latin typeface="Times New Roman"/>
              </a:defRPr>
            </a:pPr>
            <a:r>
              <a:t>“AI Student Agent: An Autonomous AI Learning Assistant for Real-Time Online Classes”</a:t>
            </a:r>
          </a:p>
          <a:p>
            <a:pPr algn="ctr">
              <a:defRPr sz="1300" b="1">
                <a:solidFill>
                  <a:srgbClr val="333333"/>
                </a:solidFill>
                <a:latin typeface="Times New Roman"/>
              </a:defRPr>
            </a:pPr>
            <a:r>
              <a:t>Presented By:</a:t>
            </a:r>
          </a:p>
          <a:p>
            <a:pPr algn="ctr">
              <a:spcAft>
                <a:spcPts val="800"/>
              </a:spcAft>
              <a:defRPr sz="1150">
                <a:solidFill>
                  <a:srgbClr val="333333"/>
                </a:solidFill>
                <a:latin typeface="Times New Roman"/>
              </a:defRPr>
            </a:pPr>
            <a:r>
              <a:t>1. Aman Choudhary (70012300166)     2. Pranav Patil (70012400176)     3. Mohit Patil (70012400178)</a:t>
            </a:r>
          </a:p>
          <a:p>
            <a:pPr algn="ctr">
              <a:defRPr sz="1300" b="1">
                <a:solidFill>
                  <a:srgbClr val="333333"/>
                </a:solidFill>
                <a:latin typeface="Times New Roman"/>
              </a:defRPr>
            </a:pPr>
            <a:r>
              <a:t>Under the Guidance of:</a:t>
            </a:r>
          </a:p>
          <a:p>
            <a:pPr algn="ctr">
              <a:defRPr sz="1200" b="1">
                <a:solidFill>
                  <a:srgbClr val="2E5F8A"/>
                </a:solidFill>
                <a:latin typeface="Times New Roman"/>
              </a:defRPr>
            </a:pPr>
            <a:r>
              <a:t>Dr. Pravin Landge (Faculty Mentor, Department of Information Technology)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027" name="Picture 3" descr="C:\Users\kunal\Pictures\nmim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95517" y="4863433"/>
            <a:ext cx="952963" cy="1090327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447799" y="5784564"/>
            <a:ext cx="624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Information Technology Department</a:t>
            </a:r>
          </a:p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SVKM’S NMIMS, MPSTME,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Shirpur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 Campus </a:t>
            </a:r>
          </a:p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2026-27</a:t>
            </a:r>
          </a:p>
        </p:txBody>
      </p:sp>
    </p:spTree>
    <p:extLst>
      <p:ext uri="{BB962C8B-B14F-4D97-AF65-F5344CB8AC3E}">
        <p14:creationId xmlns:p14="http://schemas.microsoft.com/office/powerpoint/2010/main" val="753747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0691" y="999836"/>
            <a:ext cx="6479309" cy="1143000"/>
          </a:xfrm>
        </p:spPr>
        <p:txBody>
          <a:bodyPr/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7327"/>
            <a:ext cx="8229600" cy="3704237"/>
          </a:xfrm>
        </p:spPr>
        <p:txBody>
          <a:bodyPr>
            <a:noAutofit/>
          </a:bodyPr>
          <a:lstStyle/>
          <a:p>
            <a:pPr marL="342900" lvl="1">
              <a:lnSpc>
                <a:spcPct val="150000"/>
              </a:lnSpc>
              <a:buFont typeface="Wingdings" panose="05000000000000000000" pitchFamily="2" charset="2"/>
              <a:buChar char="q"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9319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2194560"/>
            <a:ext cx="502920" cy="502920"/>
          </a:xfrm>
          <a:prstGeom prst="ellipse">
            <a:avLst/>
          </a:prstGeom>
          <a:solidFill>
            <a:srgbClr val="BC3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21408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Times New Roman"/>
              </a:defRPr>
            </a:pPr>
            <a:r>
              <a:t>Objective of Project</a:t>
            </a:r>
          </a:p>
          <a:p>
            <a:pPr>
              <a:defRPr sz="950">
                <a:solidFill>
                  <a:srgbClr val="666666"/>
                </a:solidFill>
                <a:latin typeface="Times New Roman"/>
              </a:defRPr>
            </a:pPr>
            <a:r>
              <a:t>Goals, ambient listening, and persistence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63240"/>
            <a:ext cx="39319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" y="3246120"/>
            <a:ext cx="502920" cy="502920"/>
          </a:xfrm>
          <a:prstGeom prst="ellipse">
            <a:avLst/>
          </a:prstGeom>
          <a:solidFill>
            <a:srgbClr val="BC3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172968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Times New Roman"/>
              </a:defRPr>
            </a:pPr>
            <a:r>
              <a:t>Literature Survey</a:t>
            </a:r>
          </a:p>
          <a:p>
            <a:pPr>
              <a:defRPr sz="950">
                <a:solidFill>
                  <a:srgbClr val="666666"/>
                </a:solidFill>
                <a:latin typeface="Times New Roman"/>
              </a:defRPr>
            </a:pPr>
            <a:r>
              <a:t>Comparative analysis of 18 publications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39319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60" y="4297680"/>
            <a:ext cx="502920" cy="502920"/>
          </a:xfrm>
          <a:prstGeom prst="ellipse">
            <a:avLst/>
          </a:prstGeom>
          <a:solidFill>
            <a:srgbClr val="BC3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224528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Times New Roman"/>
              </a:defRPr>
            </a:pPr>
            <a:r>
              <a:t>Problem Statement</a:t>
            </a:r>
          </a:p>
          <a:p>
            <a:pPr>
              <a:defRPr sz="950">
                <a:solidFill>
                  <a:srgbClr val="666666"/>
                </a:solidFill>
                <a:latin typeface="Times New Roman"/>
              </a:defRPr>
            </a:pPr>
            <a:r>
              <a:t>Split-attention, autonomy &amp; memory gaps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166360"/>
            <a:ext cx="39319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5349240"/>
            <a:ext cx="502920" cy="502920"/>
          </a:xfrm>
          <a:prstGeom prst="ellipse">
            <a:avLst/>
          </a:prstGeom>
          <a:solidFill>
            <a:srgbClr val="BC3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276088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Times New Roman"/>
              </a:defRPr>
            </a:pPr>
            <a:r>
              <a:t>Proposed Solution</a:t>
            </a:r>
          </a:p>
          <a:p>
            <a:pPr>
              <a:defRPr sz="950">
                <a:solidFill>
                  <a:srgbClr val="666666"/>
                </a:solidFill>
                <a:latin typeface="Times New Roman"/>
              </a:defRPr>
            </a:pPr>
            <a:r>
              <a:t>Hybrid edge-cloud multi-threaded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2011680"/>
            <a:ext cx="39319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92040" y="2194560"/>
            <a:ext cx="502920" cy="502920"/>
          </a:xfrm>
          <a:prstGeom prst="ellipse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121408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Times New Roman"/>
              </a:defRPr>
            </a:pPr>
            <a:r>
              <a:t>System Architecture</a:t>
            </a:r>
          </a:p>
          <a:p>
            <a:pPr>
              <a:defRPr sz="950">
                <a:solidFill>
                  <a:srgbClr val="666666"/>
                </a:solidFill>
                <a:latin typeface="Times New Roman"/>
              </a:defRPr>
            </a:pPr>
            <a:r>
              <a:t>5-Layer pipeline and audio routing conduit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3063240"/>
            <a:ext cx="39319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2040" y="3246120"/>
            <a:ext cx="502920" cy="502920"/>
          </a:xfrm>
          <a:prstGeom prst="ellipse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172968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Times New Roman"/>
              </a:defRPr>
            </a:pPr>
            <a:r>
              <a:t>Result Analysis / Implementation</a:t>
            </a:r>
          </a:p>
          <a:p>
            <a:pPr>
              <a:defRPr sz="950">
                <a:solidFill>
                  <a:srgbClr val="666666"/>
                </a:solidFill>
                <a:latin typeface="Times New Roman"/>
              </a:defRPr>
            </a:pPr>
            <a:r>
              <a:t>10/10 test matrix, latency &amp; cost savings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4114800"/>
            <a:ext cx="39319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92040" y="4297680"/>
            <a:ext cx="502920" cy="502920"/>
          </a:xfrm>
          <a:prstGeom prst="ellipse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4224528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Times New Roman"/>
              </a:defRPr>
            </a:pPr>
            <a:r>
              <a:t>Conclusions and Future Scope</a:t>
            </a:r>
          </a:p>
          <a:p>
            <a:pPr>
              <a:defRPr sz="950">
                <a:solidFill>
                  <a:srgbClr val="666666"/>
                </a:solidFill>
                <a:latin typeface="Times New Roman"/>
              </a:defRPr>
            </a:pPr>
            <a:r>
              <a:t>Engineering achievements &amp; roadmap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5166360"/>
            <a:ext cx="39319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92040" y="5349240"/>
            <a:ext cx="502920" cy="502920"/>
          </a:xfrm>
          <a:prstGeom prst="ellipse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276088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Times New Roman"/>
              </a:defRPr>
            </a:pPr>
            <a:r>
              <a:t>References</a:t>
            </a:r>
          </a:p>
          <a:p>
            <a:pPr>
              <a:defRPr sz="950">
                <a:solidFill>
                  <a:srgbClr val="666666"/>
                </a:solidFill>
                <a:latin typeface="Times New Roman"/>
              </a:defRPr>
            </a:pPr>
            <a:r>
              <a:t>Standard IEEE academic citations</a:t>
            </a:r>
          </a:p>
        </p:txBody>
      </p:sp>
    </p:spTree>
    <p:extLst>
      <p:ext uri="{BB962C8B-B14F-4D97-AF65-F5344CB8AC3E}">
        <p14:creationId xmlns:p14="http://schemas.microsoft.com/office/powerpoint/2010/main" val="178914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Objective of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</a:t>
            </a:fld>
            <a:endParaRPr lang="en-IN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56032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2148840"/>
            <a:ext cx="457200" cy="457200"/>
          </a:xfrm>
          <a:prstGeom prst="ellipse">
            <a:avLst/>
          </a:prstGeom>
          <a:solidFill>
            <a:srgbClr val="BC3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974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BC312C"/>
                </a:solidFill>
                <a:latin typeface="Times New Roman"/>
              </a:defRPr>
            </a:pPr>
            <a:r>
              <a:t>Zero-Cloud-Cost Ambient Listening &amp; ASR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37560"/>
            <a:ext cx="2286000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Virtual Audio Conduit: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Intercept Google Meet audio via VB-Audio Virtual Cable as a 16 kHz mono 16-bit PCM stream without microphone feedback loops.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Offline Speech Recognition: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Deploy VOSK toolkit with Kaldi WFST acoustic modeling locally on CPU, achieving sub-500ms latency at $0 cloud cost.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Noise Filtering: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Apply SciPy Butterworth 4th-order bandpass filter (300 Hz–3,400 Hz) to eliminate 50 Hz hum and enhance speech formants.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011680"/>
            <a:ext cx="256032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43400" y="2148840"/>
            <a:ext cx="457200" cy="457200"/>
          </a:xfrm>
          <a:prstGeom prst="ellipse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6974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2E5F8A"/>
                </a:solidFill>
                <a:latin typeface="Times New Roman"/>
              </a:defRPr>
            </a:pPr>
            <a:r>
              <a:t>Contextual Trigger &amp; Autonomous In-Call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337560"/>
            <a:ext cx="2286000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Sliding Context Deque: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Maintain in-memory 50-word rolling history, extracting 15 words upon trigger detection to prevent hallucinations.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Fuzzy Phonetic Matching: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Utilize normalized Levenshtein distance (Sim &gt;= 0.80) and confidence score gating (&gt;= 0.70) with compound lookahead ('just in' -&gt; 'Justin').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Grounded Q&amp;A Dispatch: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Query OpenAI GPT-4o-mini for grounded responses and inject into Google Meet chat via Selenium in &lt; 4.0 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011680"/>
            <a:ext cx="256032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F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78040" y="2148840"/>
            <a:ext cx="457200" cy="457200"/>
          </a:xfrm>
          <a:prstGeom prst="ellipse">
            <a:avLst/>
          </a:prstGeom>
          <a:solidFill>
            <a:srgbClr val="3F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6974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3F8F5C"/>
                </a:solidFill>
                <a:latin typeface="Times New Roman"/>
              </a:defRPr>
            </a:pPr>
            <a:r>
              <a:t>Post-Session Synthesis &amp; Notion Persistence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337560"/>
            <a:ext cx="2286000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Lossless Serialization: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Compile all raw lecture PCM audio frames into a master debug_audio.wav file upon session termination.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Whisper-1 Master Transcript: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Execute asynchronous batch transcription via OpenAI Whisper-1 API to yield verbatim timestamped transcripts.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Structured Notion Sync: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Synthesize hierarchical study guides (Topic, Concepts, Definitions) and export formatted block trees to Notion via REST API.</a:t>
            </a:r>
          </a:p>
        </p:txBody>
      </p:sp>
    </p:spTree>
    <p:extLst>
      <p:ext uri="{BB962C8B-B14F-4D97-AF65-F5344CB8AC3E}">
        <p14:creationId xmlns:p14="http://schemas.microsoft.com/office/powerpoint/2010/main" val="993339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</a:t>
            </a:fld>
            <a:endParaRPr lang="en-IN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965960"/>
          <a:ext cx="8412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468880"/>
                <a:gridCol w="2011680"/>
                <a:gridCol w="22860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Paper / Source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How AI Student Agent Addresses It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Radford et al. (2023)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[OpenAI Whisper]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Weakly supervised Transformer ASR; human-level accuracy across accents.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High streaming latency and 25 MB file payload boundary.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Employed for post-session master notes; lightweight VOSK used for live speech.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Povey et al. (2011) /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Alpha Cephei (2026)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Kaldi WFST toolkit &amp; VOSK: sub-500ms local ASR on consumer CPUs.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Phonetic ambiguity on proper names and homophones.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Two-stage lookahead + normalized Levenshtein distance string matching.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Dewan et al. (2023)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End-to-end verbatim meeting transcription architecture.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Virtual loopback echo and microphone feedback corruption.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Isolated unidirectional VB-Audio Cable conduit eliminating virtual loopback echo.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Laskar et al. (2023)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Role-directed LLM prompting for meeting summarization.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Lacks real-time in-call grounding; context limits on long calls.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Rolling 50-word context deque feeds immediate lecture discourse to GPT-4o-mini.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Wollny et al. (2021) /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Taneja et al.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Taxonomy of educational chatbots (90% operate at passive Level 1).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Passive web forms; deaf/blind to live audio interactions.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Implements Level 3 autonomous agent acting directly inside Google Meet chat.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Bhardwaj &amp; Kumar (2025)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Robotic process automation in higher education administration.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Rigid DOM selectors break during continuous Google web updates.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Resilient multi-selector fallback chains anchored to immutable ARIA attributes.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800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</a:t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Cognitive Split-Attention Effect: </a:t>
            </a:r>
            <a:r>
              <a:rPr sz="1200" b="0">
                <a:solidFill>
                  <a:srgbClr val="333333"/>
                </a:solidFill>
                <a:latin typeface="Times New Roman"/>
              </a:rPr>
              <a:t>Students struggle to simultaneously absorb complex lecture derivations, take running notes, and watch chat panels (Sweller's Cognitive Load Theory).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Autonomy Gap in EdTech: </a:t>
            </a:r>
            <a:r>
              <a:rPr sz="1200" b="0">
                <a:solidFill>
                  <a:srgbClr val="333333"/>
                </a:solidFill>
                <a:latin typeface="Times New Roman"/>
              </a:rPr>
              <a:t>Existing AI tools (ChatGPT, Copilot) are passive web forms; they cannot listen to live meeting audio or take autonomous action in the call.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Ephemeral Meeting Discourse: </a:t>
            </a:r>
            <a:r>
              <a:rPr sz="1200" b="0">
                <a:solidFill>
                  <a:srgbClr val="333333"/>
                </a:solidFill>
                <a:latin typeface="Times New Roman"/>
              </a:rPr>
              <a:t>Crucial verbal explanations, Q&amp;A interactions, and attendance roll-calls vanish immediately once the Google Meet session terminates.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Times New Roman"/>
              </a:rPr>
              <a:t>Unbounded LLM Hallucinations: </a:t>
            </a:r>
            <a:r>
              <a:rPr sz="1200" b="0">
                <a:solidFill>
                  <a:srgbClr val="333333"/>
                </a:solidFill>
                <a:latin typeface="Times New Roman"/>
              </a:rPr>
              <a:t>General-purpose models hallucinate unless strictly grounded in the rolling context of the instructor's immediate lecture discourse.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2011680"/>
            <a:ext cx="3383280" cy="41605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21488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C312C"/>
                </a:solidFill>
                <a:latin typeface="Times New Roman"/>
              </a:defRPr>
            </a:pPr>
            <a:r>
              <a:t>Live Classroom Scenario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2606040"/>
            <a:ext cx="3017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265176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33333"/>
                </a:solidFill>
                <a:latin typeface="Times New Roman"/>
              </a:defRPr>
            </a:pPr>
            <a:r>
              <a:t>Instructor Spoken Cold-Call</a:t>
            </a:r>
          </a:p>
          <a:p>
            <a:pPr>
              <a:defRPr sz="950">
                <a:solidFill>
                  <a:srgbClr val="666666"/>
                </a:solidFill>
                <a:latin typeface="Times New Roman"/>
              </a:defRPr>
            </a:pPr>
            <a:r>
              <a:t>“Justin, can you explain how paging prevents external fragmentation?”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7432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C312C"/>
                </a:solidFill>
                <a:latin typeface="Times New Roman"/>
              </a:defRPr>
            </a:pPr>
            <a:r>
              <a:t>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3429000"/>
            <a:ext cx="3017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347472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33333"/>
                </a:solidFill>
                <a:latin typeface="Times New Roman"/>
              </a:defRPr>
            </a:pPr>
            <a:r>
              <a:t>Split-Attention Multitasking</a:t>
            </a:r>
          </a:p>
          <a:p>
            <a:pPr>
              <a:defRPr sz="950">
                <a:solidFill>
                  <a:srgbClr val="666666"/>
                </a:solidFill>
                <a:latin typeface="Times New Roman"/>
              </a:defRPr>
            </a:pPr>
            <a:r>
              <a:t>Student writing notes -&gt; delayed response -&gt; missing participation grade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5661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C312C"/>
                </a:solidFill>
                <a:latin typeface="Times New Roman"/>
              </a:defRPr>
            </a:pPr>
            <a:r>
              <a:t>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4297680"/>
            <a:ext cx="3017520" cy="169164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4389120"/>
            <a:ext cx="283464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C312C"/>
                </a:solidFill>
                <a:latin typeface="Times New Roman"/>
              </a:defRPr>
            </a:pPr>
            <a:r>
              <a:t>Engineering Solution:</a:t>
            </a:r>
          </a:p>
          <a:p>
            <a:pPr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An autonomous, ambient edge-cloud assistant that joins Google Meet, listens locally with zero API fees, answers cold-calls in &lt;4s, and syncs study guides to Notion.</a:t>
            </a:r>
          </a:p>
        </p:txBody>
      </p:sp>
    </p:spTree>
    <p:extLst>
      <p:ext uri="{BB962C8B-B14F-4D97-AF65-F5344CB8AC3E}">
        <p14:creationId xmlns:p14="http://schemas.microsoft.com/office/powerpoint/2010/main" val="3404508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402336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21408"/>
            <a:ext cx="36576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BC312C"/>
                </a:solidFill>
                <a:latin typeface="Times New Roman"/>
              </a:defRPr>
            </a:pPr>
            <a:r>
              <a:t>Hybrid Edge-Cloud Architecture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Edge Continuous Listening: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Local CPU speech decoding via VOSK runs 100% free ($0/hr), eliminating costly continuous cloud audio streaming.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Frontier Cloud Reasoning: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OpenAI GPT-4o-mini is invoked strictly on verified trigger events ($0.001/query), saving over 98% in operational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011680"/>
            <a:ext cx="402336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121408"/>
            <a:ext cx="36576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E5F8A"/>
                </a:solidFill>
                <a:latin typeface="Times New Roman"/>
              </a:defRPr>
            </a:pPr>
            <a:r>
              <a:t>Unidirectional Loopback &amp; DSP Filtering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VB-Audio Virtual Cable: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Routes meeting speaker output directly into PyAudio recording stream without physical microphone feedback or echo.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SciPy Butterworth Filter: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4th-order bandpass filter (300 Hz–3,400 Hz) isolates human speech formants and suppresses ambient electrical hum.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60520"/>
            <a:ext cx="402336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270248"/>
            <a:ext cx="36576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C98A2C"/>
                </a:solidFill>
                <a:latin typeface="Times New Roman"/>
              </a:defRPr>
            </a:pPr>
            <a:r>
              <a:t>Sliding Context Deque &amp; Fuzzy Trigger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Rolling Discourse Buffer: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In-memory collections.deque(maxlen=50) retains the last 50 words, extracting 15 words to ground prompt synthesis.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Fuzzy Phonetic Matching: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Normalized Levenshtein metric (Sim &gt;= 0.80) + acoustic confidence (&gt;= 0.70) with lookahead ('just in' -&gt; 'Justin').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4160520"/>
            <a:ext cx="402336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F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4270248"/>
            <a:ext cx="36576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F8F5C"/>
                </a:solidFill>
                <a:latin typeface="Times New Roman"/>
              </a:defRPr>
            </a:pPr>
            <a:r>
              <a:t>Resilient Automation &amp; Notion Persistence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DOM Mutation Resilience: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Selenium WebDriver anchors to immutable accessibility attributes (@aria-label) and dynamic WebDriverWait polling.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Notion REST API Adapter: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Converts post-session Whisper-1 transcript into hierarchical academic study notes published to student Notion DB.</a:t>
            </a:r>
          </a:p>
        </p:txBody>
      </p:sp>
    </p:spTree>
    <p:extLst>
      <p:ext uri="{BB962C8B-B14F-4D97-AF65-F5344CB8AC3E}">
        <p14:creationId xmlns:p14="http://schemas.microsoft.com/office/powerpoint/2010/main" val="3580476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  <p:sp>
        <p:nvSpPr>
          <p:cNvPr id="5" name="Rounded Rectangle 4"/>
          <p:cNvSpPr/>
          <p:nvPr/>
        </p:nvSpPr>
        <p:spPr>
          <a:xfrm>
            <a:off x="411480" y="1920240"/>
            <a:ext cx="8321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ystem_architecture_minima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82296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30352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Layer 1 &amp; 2 (Client &amp; Audio Loopback):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Selenium Chrome automation bypasses modals; VB-Audio Cable isolates 16 kHz mono stream; SciPy Butterworth bandpass filter suppresses noise.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Layer 3 (Perception Engine):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Offline VOSK Kaldi decodes speech locally on CPU; 50-word context deque buffers discourse; Levenshtein detector triggers GPT-4o-mini; Selenium types chat reply in &lt; 4s.</a:t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Dual Execution Paths: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Real-time in-call Q&amp;A loop (&lt;3.5s turn-taking) and post-session lossless serialization (debug_audio.wav -&gt; Whisper-1 -&gt; Notion database sync).</a:t>
            </a:r>
          </a:p>
        </p:txBody>
      </p:sp>
    </p:spTree>
    <p:extLst>
      <p:ext uri="{BB962C8B-B14F-4D97-AF65-F5344CB8AC3E}">
        <p14:creationId xmlns:p14="http://schemas.microsoft.com/office/powerpoint/2010/main" val="3781085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Result Analysis/Implementation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  <p:sp>
        <p:nvSpPr>
          <p:cNvPr id="5" name="Rounded Rectangle 4"/>
          <p:cNvSpPr/>
          <p:nvPr/>
        </p:nvSpPr>
        <p:spPr>
          <a:xfrm>
            <a:off x="457200" y="1965960"/>
            <a:ext cx="19202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BC312C"/>
                </a:solidFill>
                <a:latin typeface="Times New Roman"/>
              </a:defRPr>
            </a:pPr>
            <a:r>
              <a:t>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66666"/>
                </a:solidFill>
                <a:latin typeface="Times New Roman"/>
              </a:defRPr>
            </a:pPr>
            <a:r>
              <a:t>Subsystems Verified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965960"/>
            <a:ext cx="19202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011680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E5F8A"/>
                </a:solidFill>
                <a:latin typeface="Times New Roman"/>
              </a:defRPr>
            </a:pPr>
            <a:r>
              <a:t>3.6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5146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66666"/>
                </a:solidFill>
                <a:latin typeface="Times New Roman"/>
              </a:defRPr>
            </a:pPr>
            <a:r>
              <a:t>Avg Live Turn-Taking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965960"/>
            <a:ext cx="19202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F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F8F5C"/>
                </a:solidFill>
                <a:latin typeface="Times New Roman"/>
              </a:defRPr>
            </a:pPr>
            <a:r>
              <a:t>98.17%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146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66666"/>
                </a:solidFill>
                <a:latin typeface="Times New Roman"/>
              </a:defRPr>
            </a:pPr>
            <a:r>
              <a:t>Cloud Cost Savings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965960"/>
            <a:ext cx="19202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011680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C98A2C"/>
                </a:solidFill>
                <a:latin typeface="Times New Roman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5146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66666"/>
                </a:solidFill>
                <a:latin typeface="Times New Roman"/>
              </a:defRPr>
            </a:pPr>
            <a:r>
              <a:t>GPU Accelerators Needed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63240"/>
          <a:ext cx="822960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1920240"/>
                <a:gridCol w="2011680"/>
              </a:tblGrid>
              <a:tr h="374903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Pipeline Stage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Subsystem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Measured Latency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Engineering Target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Audio Ingestion &amp; DSP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PyAudio &amp; SciPy Butterworth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140 ms – 275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&lt; 350 ms (Met)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Offline Speech Decoding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VOSK Kaldi WFST Graph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350 ms – 480 ms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&lt; 500 ms (Met)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Context &amp; LLM Q&amp;A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OpenAI GPT-4o-mini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1,850 ms – 2,650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&lt; 3,000 ms (Met)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Total End-to-End Latency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Full Perception to Chat Loop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3.20 s – 4.54 s (Avg: 3.6s)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3.0 s – 5.0 s (Met)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457200" y="5074920"/>
            <a:ext cx="82296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F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16636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F8F5C"/>
                </a:solidFill>
                <a:latin typeface="Times New Roman"/>
              </a:defRPr>
            </a:pPr>
            <a:r>
              <a:t>Economic Cost Model &amp; Host Hardware Footprint: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98.17% Compute Cost Reduction: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Pure cloud streaming costs $22.98/month (60 classes), while AI Student Agent hybrid costs $0.42/month ($0.45/semester).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Resource Footprint: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Host RAM: 1.18–1.34 GB (&lt;1.5 GB budget) | Host CPU: 18%–26% on Intel i5 | Dedicated GPU: 0% (standard laptop viability).</a:t>
            </a:r>
          </a:p>
        </p:txBody>
      </p:sp>
    </p:spTree>
    <p:extLst>
      <p:ext uri="{BB962C8B-B14F-4D97-AF65-F5344CB8AC3E}">
        <p14:creationId xmlns:p14="http://schemas.microsoft.com/office/powerpoint/2010/main" val="1129545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Conclusions and Future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  <p:sp>
        <p:nvSpPr>
          <p:cNvPr id="5" name="Rounded Rectangle 4"/>
          <p:cNvSpPr/>
          <p:nvPr/>
        </p:nvSpPr>
        <p:spPr>
          <a:xfrm>
            <a:off x="457200" y="1965960"/>
            <a:ext cx="8229600" cy="14630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78638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33333"/>
                </a:solidFill>
                <a:latin typeface="Times New Roman"/>
              </a:defRPr>
            </a:pPr>
            <a:r>
              <a:t>Project Conclusions:</a:t>
            </a:r>
          </a:p>
          <a:p>
            <a:pPr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AI Student Agent has successfully demonstrated that combining local edge acoustic processing (VOSK/Kaldi) with frontier cloud generative models (GPT-4o-mini &amp; Whisper-1) creates an effective autonomous classroom assistant. The system resolves the split-attention dilemma in online learning, maintains sub-4s response latency in live Google Meet chat, and delivers 98.17% cloud cost reductions ($0.42/month) on standard consumer PC hardware without dedicated GPU acceleration.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11880"/>
            <a:ext cx="196596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749040"/>
            <a:ext cx="1746504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BC312C"/>
                </a:solidFill>
                <a:latin typeface="Times New Roman"/>
              </a:defRPr>
            </a:pPr>
            <a:r>
              <a:t>Dynamic Audio Chunking</a:t>
            </a:r>
          </a:p>
          <a:p>
            <a:pPr>
              <a:defRPr sz="950">
                <a:solidFill>
                  <a:srgbClr val="333333"/>
                </a:solidFill>
                <a:latin typeface="Times New Roman"/>
              </a:defRPr>
            </a:pPr>
            <a:r>
              <a:t>Automate PyDub temporal segmentation to process multi-hour WAVs within Whisper's 25 MB limit.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3611880"/>
            <a:ext cx="196596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3749040"/>
            <a:ext cx="1746504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E5F8A"/>
                </a:solidFill>
                <a:latin typeface="Times New Roman"/>
              </a:defRPr>
            </a:pPr>
            <a:r>
              <a:t>Course-Grounded RAG</a:t>
            </a:r>
          </a:p>
          <a:p>
            <a:pPr>
              <a:defRPr sz="950">
                <a:solidFill>
                  <a:srgbClr val="333333"/>
                </a:solidFill>
                <a:latin typeface="Times New Roman"/>
              </a:defRPr>
            </a:pPr>
            <a:r>
              <a:t>Index syllabus and textbook PDFs via ChromaDB / FAISS for deep factual grounding during cold-calls.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18304" y="3611880"/>
            <a:ext cx="196596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F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3749040"/>
            <a:ext cx="1746504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F8F5C"/>
                </a:solidFill>
                <a:latin typeface="Times New Roman"/>
              </a:defRPr>
            </a:pPr>
            <a:r>
              <a:t>Synthetic Spoken Voice (TTS)</a:t>
            </a:r>
          </a:p>
          <a:p>
            <a:pPr>
              <a:defRPr sz="950">
                <a:solidFill>
                  <a:srgbClr val="333333"/>
                </a:solidFill>
                <a:latin typeface="Times New Roman"/>
              </a:defRPr>
            </a:pPr>
            <a:r>
              <a:t>Integrate Edge-TTS / ElevenLabs through a virtual microphone for spoken verbal participation.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8856" y="3611880"/>
            <a:ext cx="196596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58584" y="3749040"/>
            <a:ext cx="1746504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C98A2C"/>
                </a:solidFill>
                <a:latin typeface="Times New Roman"/>
              </a:defRPr>
            </a:pPr>
            <a:r>
              <a:t>Cross-Platform Support</a:t>
            </a:r>
          </a:p>
          <a:p>
            <a:pPr>
              <a:defRPr sz="950">
                <a:solidFill>
                  <a:srgbClr val="333333"/>
                </a:solidFill>
                <a:latin typeface="Times New Roman"/>
              </a:defRPr>
            </a:pPr>
            <a:r>
              <a:t>Extend automation adapters to Zoom, MS Teams, Cisco Webex, macOS (BlackHole), and Linux.</a:t>
            </a:r>
          </a:p>
        </p:txBody>
      </p:sp>
    </p:spTree>
    <p:extLst>
      <p:ext uri="{BB962C8B-B14F-4D97-AF65-F5344CB8AC3E}">
        <p14:creationId xmlns:p14="http://schemas.microsoft.com/office/powerpoint/2010/main" val="2347967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A4A74-0593-800E-29EC-57751947D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43128"/>
            <a:ext cx="8229600" cy="211428"/>
          </a:xfrm>
        </p:spPr>
        <p:txBody>
          <a:bodyPr>
            <a:noAutofit/>
          </a:bodyPr>
          <a:lstStyle/>
          <a:p>
            <a:r>
              <a:rPr lang="en-IN" sz="2500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25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2EDA41-C953-687E-FEB7-32F2420C5F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3977639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50">
                <a:solidFill>
                  <a:srgbClr val="333333"/>
                </a:solidFill>
                <a:latin typeface="Times New Roman"/>
              </a:defRPr>
            </a:pPr>
            <a:r>
              <a:t>[1] A. Radford, J. W. Kim, T. Xu, G. Brockman, C. McLeavey, and I. Sutskever, “Robust speech recognition via large-scale weak supervision,” in Proc. 40th Int. Conf. Machine Learning (ICML), PMLR vol. 202, pp. 28492–28518, 2023.</a:t>
            </a:r>
          </a:p>
          <a:p>
            <a:pPr>
              <a:spcAft>
                <a:spcPts val="1000"/>
              </a:spcAft>
              <a:defRPr sz="950">
                <a:solidFill>
                  <a:srgbClr val="333333"/>
                </a:solidFill>
                <a:latin typeface="Times New Roman"/>
              </a:defRPr>
            </a:pPr>
            <a:r>
              <a:t>[2] D. Povey, A. Ghoshal, G. Boulianne, et al., “The Kaldi speech recognition toolkit,” in Proc. IEEE Workshop Automatic Speech Recognition and Understanding (ASRU), pp. 1–4, 2011.</a:t>
            </a:r>
          </a:p>
          <a:p>
            <a:pPr>
              <a:spcAft>
                <a:spcPts val="1000"/>
              </a:spcAft>
              <a:defRPr sz="950">
                <a:solidFill>
                  <a:srgbClr val="333333"/>
                </a:solidFill>
                <a:latin typeface="Times New Roman"/>
              </a:defRPr>
            </a:pPr>
            <a:r>
              <a:t>[3] Alpha Cephei, “Vosk: Offline open-source speech recognition toolkit,” Alpha Cephei Inc., Sep. 2026. [Online]. Available: https://alphacephei.com/vosk/.</a:t>
            </a:r>
          </a:p>
          <a:p>
            <a:pPr>
              <a:spcAft>
                <a:spcPts val="1000"/>
              </a:spcAft>
              <a:defRPr sz="950">
                <a:solidFill>
                  <a:srgbClr val="333333"/>
                </a:solidFill>
                <a:latin typeface="Times New Roman"/>
              </a:defRPr>
            </a:pPr>
            <a:r>
              <a:t>[4] A. Dewan, M. Ziemski, H. Meylan, et al., “Developing automatic verbatim transcripts for international multilingual meetings: An end-to-end solution,” arXiv:2309.15609, 2023.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2011680"/>
            <a:ext cx="3977639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50">
                <a:solidFill>
                  <a:srgbClr val="333333"/>
                </a:solidFill>
                <a:latin typeface="Times New Roman"/>
              </a:defRPr>
            </a:pPr>
            <a:r>
              <a:t>[5] M. T. R. Laskar, X.-Y. Fu, C. Chen, and S. Bhushan TN, “Building real-world meeting summarization systems using large language models: A practical perspective,” arXiv:2310.19233, 2023.</a:t>
            </a:r>
          </a:p>
          <a:p>
            <a:pPr>
              <a:spcAft>
                <a:spcPts val="1000"/>
              </a:spcAft>
              <a:defRPr sz="950">
                <a:solidFill>
                  <a:srgbClr val="333333"/>
                </a:solidFill>
                <a:latin typeface="Times New Roman"/>
              </a:defRPr>
            </a:pPr>
            <a:r>
              <a:t>[6] S. Wollny, J. Schneider, D. Di Mitri, et al., “Are we there yet? — A systematic literature review on chatbots in education,” Frontiers in Artificial Intelligence, vol. 4, art. 654924, 2021.</a:t>
            </a:r>
          </a:p>
          <a:p>
            <a:pPr>
              <a:spcAft>
                <a:spcPts val="1000"/>
              </a:spcAft>
              <a:defRPr sz="950">
                <a:solidFill>
                  <a:srgbClr val="333333"/>
                </a:solidFill>
                <a:latin typeface="Times New Roman"/>
              </a:defRPr>
            </a:pPr>
            <a:r>
              <a:t>[7] V. Bhardwaj and M. Kumar, “Transforming higher education with robotic process automation: Enhancing efficiency and student learning,” Discover Sustainability, vol. 6, no. 1, 2025.</a:t>
            </a:r>
          </a:p>
          <a:p>
            <a:pPr>
              <a:spcAft>
                <a:spcPts val="1000"/>
              </a:spcAft>
              <a:defRPr sz="950">
                <a:solidFill>
                  <a:srgbClr val="333333"/>
                </a:solidFill>
                <a:latin typeface="Times New Roman"/>
              </a:defRPr>
            </a:pPr>
            <a:r>
              <a:t>[8] OpenAI, “GPT-4o mini: Advancing cost-efficient intelligence,” OpenAI Technical Report, 2024. [Online]. Available: https://openai.com/index/gpt-4o-mini-advancing-cost-efficient-intelligence/.</a:t>
            </a:r>
          </a:p>
        </p:txBody>
      </p:sp>
    </p:spTree>
    <p:extLst>
      <p:ext uri="{BB962C8B-B14F-4D97-AF65-F5344CB8AC3E}">
        <p14:creationId xmlns:p14="http://schemas.microsoft.com/office/powerpoint/2010/main" val="2189632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2f13355470_0_53"/>
          <p:cNvSpPr txBox="1">
            <a:spLocks noGrp="1"/>
          </p:cNvSpPr>
          <p:nvPr>
            <p:ph type="title"/>
          </p:nvPr>
        </p:nvSpPr>
        <p:spPr>
          <a:xfrm flipH="1">
            <a:off x="392545" y="1902691"/>
            <a:ext cx="8229600" cy="364836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rgbClr val="BC312C"/>
                </a:solidFill>
                <a:latin typeface="Times New Roman"/>
              </a:defRPr>
            </a:pPr>
            <a:r>
              <a:t>THANK YOU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Google Shape;204;g22f13355470_0_53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  <a:latin typeface="Times New Roman"/>
              </a:defRPr>
            </a:pPr>
            <a:r>
              <a:t>Questions &amp; Answers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Times New Roman"/>
              </a:defRPr>
            </a:pPr>
            <a:r>
              <a:t>AI Student Agent: An Autonomous AI Learning Assistant for Real-Time Online Classes</a:t>
            </a:r>
          </a:p>
          <a:p>
            <a:pPr algn="ctr">
              <a:defRPr sz="1150">
                <a:solidFill>
                  <a:srgbClr val="666666"/>
                </a:solidFill>
                <a:latin typeface="Times New Roman"/>
              </a:defRPr>
            </a:pPr>
            <a:r>
              <a:t>Aman Choudhary (70012300166)  |  Pranav Patil (70012400176)  |  Mohit Patil (70012400178)</a:t>
            </a:r>
          </a:p>
          <a:p>
            <a:pPr algn="ctr">
              <a:defRPr sz="1100">
                <a:solidFill>
                  <a:srgbClr val="BC312C"/>
                </a:solidFill>
                <a:latin typeface="Times New Roman"/>
              </a:defRPr>
            </a:pPr>
            <a:r>
              <a:t>Under the Guidance of Dr. Pravin Landge | Department of Information Technology, MPSTME, SVKM's NMIMS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PST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186</Words>
  <Application>Microsoft Office PowerPoint</Application>
  <PresentationFormat>On-screen Show (4:3)</PresentationFormat>
  <Paragraphs>40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Arial</vt:lpstr>
      <vt:lpstr>Noto Sans Symbols</vt:lpstr>
      <vt:lpstr>Wingdings</vt:lpstr>
      <vt:lpstr>Times New Roman</vt:lpstr>
      <vt:lpstr>MPSTME</vt:lpstr>
      <vt:lpstr>A  Presentation on “Project Title”  By Name of Student (Roll No.)   Under the Guidance of   Name of faculty mentor  </vt:lpstr>
      <vt:lpstr>Outline</vt:lpstr>
      <vt:lpstr>Objective of Project</vt:lpstr>
      <vt:lpstr>Literature Survey</vt:lpstr>
      <vt:lpstr>Problem Statement</vt:lpstr>
      <vt:lpstr>Proposed Solution</vt:lpstr>
      <vt:lpstr>System Architecture</vt:lpstr>
      <vt:lpstr>Result Analysis/Implementation</vt:lpstr>
      <vt:lpstr>Conclusions and Future Scope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 Presentation on “TITLE OF PROJECT/DOMAIN”  By Name of Student   Under the Guidance of Name of Guide</dc:title>
  <dc:creator>Dhirendra Mishra</dc:creator>
  <cp:lastModifiedBy>piyush soni</cp:lastModifiedBy>
  <cp:revision>43</cp:revision>
  <dcterms:created xsi:type="dcterms:W3CDTF">2017-04-11T09:48:28Z</dcterms:created>
  <dcterms:modified xsi:type="dcterms:W3CDTF">2026-10-30T09:27:30Z</dcterms:modified>
</cp:coreProperties>
</file>