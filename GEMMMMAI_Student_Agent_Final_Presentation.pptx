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</p:sldMasterIdLst>
  <p:notesMasterIdLst>
    <p:notesMasterId r:id="rId21"/>
  </p:notes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12"/>
    <p:sldId id="265" r:id="rId11"/>
    <p:sldId id="266" r:id="rId10"/>
    <p:sldId id="267" r:id="rId9"/>
    <p:sldId id="268" r:id="rId8"/>
    <p:sldId id="269" r:id="rId7"/>
    <p:sldId id="270" r:id="rId6"/>
    <p:sldId id="271" r:id="rId5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280" r:id="rId37"/>
    <p:sldId id="281" r:id="rId38"/>
    <p:sldId id="282" r:id="rId39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2" roundtripDataSignature="AMtx7mhI2zLJbBorCa+P19c3mKKKhhr2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C2BD11-FDD8-74C9-49F8-802774F5E347}" v="2" dt="2026-08-07T09:32:16.973"/>
    <p1510:client id="{5A9F3A90-F323-ED72-57AB-07C039B4E74E}" v="1" dt="2026-08-07T11:12:43.8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6.xml"/><Relationship Id="rId6" Type="http://schemas.openxmlformats.org/officeDocument/2006/relationships/slide" Target="slides/slide15.xml"/><Relationship Id="rId7" Type="http://schemas.openxmlformats.org/officeDocument/2006/relationships/slide" Target="slides/slide14.xml"/><Relationship Id="rId8" Type="http://schemas.openxmlformats.org/officeDocument/2006/relationships/slide" Target="slides/slide13.xml"/><Relationship Id="rId9" Type="http://schemas.openxmlformats.org/officeDocument/2006/relationships/slide" Target="slides/slide12.xml"/><Relationship Id="rId10" Type="http://schemas.openxmlformats.org/officeDocument/2006/relationships/slide" Target="slides/slide11.xml"/><Relationship Id="rId11" Type="http://schemas.openxmlformats.org/officeDocument/2006/relationships/slide" Target="slides/slide10.xml"/><Relationship Id="rId12" Type="http://schemas.openxmlformats.org/officeDocument/2006/relationships/slide" Target="slides/slide9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notesMaster" Target="notesMasters/notesMaster1.xml"/><Relationship Id="rId22" Type="http://customschemas.google.com/relationships/presentationmetadata" Target="metadata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microsoft.com/office/2016/11/relationships/changesInfo" Target="changesInfos/changesInfo1.xml"/><Relationship Id="rId28" Type="http://schemas.microsoft.com/office/2015/10/relationships/revisionInfo" Target="revisionInfo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Relationship Id="rId38" Type="http://schemas.openxmlformats.org/officeDocument/2006/relationships/slide" Target="slides/slide26.xml"/><Relationship Id="rId39" Type="http://schemas.openxmlformats.org/officeDocument/2006/relationships/slide" Target="slides/slide2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tenantanon#cc608644-4827-441b-a3a0-f4e1fc786caf::" providerId="AD" clId="Web-{15C2BD11-FDD8-74C9-49F8-802774F5E347}"/>
    <pc:docChg chg="modSld">
      <pc:chgData name="Guest User" userId="S::urn:spo:tenantanon#cc608644-4827-441b-a3a0-f4e1fc786caf::" providerId="AD" clId="Web-{15C2BD11-FDD8-74C9-49F8-802774F5E347}" dt="2026-08-07T09:32:16.973" v="1" actId="1076"/>
      <pc:docMkLst>
        <pc:docMk/>
      </pc:docMkLst>
      <pc:sldChg chg="modSp">
        <pc:chgData name="Guest User" userId="S::urn:spo:tenantanon#cc608644-4827-441b-a3a0-f4e1fc786caf::" providerId="AD" clId="Web-{15C2BD11-FDD8-74C9-49F8-802774F5E347}" dt="2026-08-07T09:32:16.973" v="1" actId="1076"/>
        <pc:sldMkLst>
          <pc:docMk/>
          <pc:sldMk cId="1276881698" sldId="259"/>
        </pc:sldMkLst>
        <pc:picChg chg="mod">
          <ac:chgData name="Guest User" userId="S::urn:spo:tenantanon#cc608644-4827-441b-a3a0-f4e1fc786caf::" providerId="AD" clId="Web-{15C2BD11-FDD8-74C9-49F8-802774F5E347}" dt="2026-08-07T09:32:13.364" v="0" actId="14100"/>
          <ac:picMkLst>
            <pc:docMk/>
            <pc:sldMk cId="1276881698" sldId="259"/>
            <ac:picMk id="11" creationId="{35AA6430-8485-5565-7C1C-8DA41A08C577}"/>
          </ac:picMkLst>
        </pc:picChg>
        <pc:picChg chg="mod">
          <ac:chgData name="Guest User" userId="S::urn:spo:tenantanon#cc608644-4827-441b-a3a0-f4e1fc786caf::" providerId="AD" clId="Web-{15C2BD11-FDD8-74C9-49F8-802774F5E347}" dt="2026-08-07T09:32:16.973" v="1" actId="1076"/>
          <ac:picMkLst>
            <pc:docMk/>
            <pc:sldMk cId="1276881698" sldId="259"/>
            <ac:picMk id="17" creationId="{EC03C727-3469-0D18-06A7-E88E77F8BEBA}"/>
          </ac:picMkLst>
        </pc:picChg>
      </pc:sldChg>
    </pc:docChg>
  </pc:docChgLst>
  <pc:docChgLst>
    <pc:chgData name="Guest User" userId="S::urn:spo:tenantanon#cc608644-4827-441b-a3a0-f4e1fc786caf::" providerId="AD" clId="Web-{5A9F3A90-F323-ED72-57AB-07C039B4E74E}"/>
    <pc:docChg chg="modSld">
      <pc:chgData name="Guest User" userId="S::urn:spo:tenantanon#cc608644-4827-441b-a3a0-f4e1fc786caf::" providerId="AD" clId="Web-{5A9F3A90-F323-ED72-57AB-07C039B4E74E}" dt="2026-08-07T11:12:43.801" v="0" actId="14100"/>
      <pc:docMkLst>
        <pc:docMk/>
      </pc:docMkLst>
      <pc:sldChg chg="modSp">
        <pc:chgData name="Guest User" userId="S::urn:spo:tenantanon#cc608644-4827-441b-a3a0-f4e1fc786caf::" providerId="AD" clId="Web-{5A9F3A90-F323-ED72-57AB-07C039B4E74E}" dt="2026-08-07T11:12:43.801" v="0" actId="14100"/>
        <pc:sldMkLst>
          <pc:docMk/>
          <pc:sldMk cId="3247128239" sldId="264"/>
        </pc:sldMkLst>
        <pc:picChg chg="mod">
          <ac:chgData name="Guest User" userId="S::urn:spo:tenantanon#cc608644-4827-441b-a3a0-f4e1fc786caf::" providerId="AD" clId="Web-{5A9F3A90-F323-ED72-57AB-07C039B4E74E}" dt="2026-08-07T11:12:43.801" v="0" actId="14100"/>
          <ac:picMkLst>
            <pc:docMk/>
            <pc:sldMk cId="3247128239" sldId="264"/>
            <ac:picMk id="6" creationId="{333C2E20-2D78-4BA7-8B61-B73AD6181406}"/>
          </ac:picMkLst>
        </pc:picChg>
      </pc:sldChg>
    </pc:docChg>
  </pc:docChgLst>
  <pc:docChgLst>
    <pc:chgData name="ABHISHEK PATIL - 70532300014" userId="S::abhishek.patil014@nmims.in::4b116ed5-58f7-439c-9d2a-ade80a85f347" providerId="AD" clId="Web-{2873F982-49A8-D494-B29C-F435D711665E}"/>
    <pc:docChg chg="modSld">
      <pc:chgData name="ABHISHEK PATIL - 70532300014" userId="S::abhishek.patil014@nmims.in::4b116ed5-58f7-439c-9d2a-ade80a85f347" providerId="AD" clId="Web-{2873F982-49A8-D494-B29C-F435D711665E}" dt="2026-08-02T08:24:40.819" v="45"/>
      <pc:docMkLst>
        <pc:docMk/>
      </pc:docMkLst>
      <pc:sldChg chg="addSp delSp modSp">
        <pc:chgData name="ABHISHEK PATIL - 70532300014" userId="S::abhishek.patil014@nmims.in::4b116ed5-58f7-439c-9d2a-ade80a85f347" providerId="AD" clId="Web-{2873F982-49A8-D494-B29C-F435D711665E}" dt="2026-08-02T08:23:07.613" v="14"/>
        <pc:sldMkLst>
          <pc:docMk/>
          <pc:sldMk cId="0" sldId="258"/>
        </pc:sldMkLst>
      </pc:sldChg>
      <pc:sldChg chg="delSp">
        <pc:chgData name="ABHISHEK PATIL - 70532300014" userId="S::abhishek.patil014@nmims.in::4b116ed5-58f7-439c-9d2a-ade80a85f347" providerId="AD" clId="Web-{2873F982-49A8-D494-B29C-F435D711665E}" dt="2026-08-02T08:24:00.037" v="21"/>
        <pc:sldMkLst>
          <pc:docMk/>
          <pc:sldMk cId="2241894129" sldId="261"/>
        </pc:sldMkLst>
      </pc:sldChg>
      <pc:sldChg chg="addSp delSp modSp">
        <pc:chgData name="ABHISHEK PATIL - 70532300014" userId="S::abhishek.patil014@nmims.in::4b116ed5-58f7-439c-9d2a-ade80a85f347" providerId="AD" clId="Web-{2873F982-49A8-D494-B29C-F435D711665E}" dt="2026-08-02T08:23:47.677" v="20"/>
        <pc:sldMkLst>
          <pc:docMk/>
          <pc:sldMk cId="4067205852" sldId="265"/>
        </pc:sldMkLst>
        <pc:graphicFrameChg chg="add del mod modGraphic">
          <ac:chgData name="ABHISHEK PATIL - 70532300014" userId="S::abhishek.patil014@nmims.in::4b116ed5-58f7-439c-9d2a-ade80a85f347" providerId="AD" clId="Web-{2873F982-49A8-D494-B29C-F435D711665E}" dt="2026-08-02T08:23:47.677" v="20"/>
          <ac:graphicFrameMkLst>
            <pc:docMk/>
            <pc:sldMk cId="4067205852" sldId="265"/>
            <ac:graphicFrameMk id="6" creationId="{21246DB5-307E-974E-598D-60A1C686BAF7}"/>
          </ac:graphicFrameMkLst>
        </pc:graphicFrameChg>
      </pc:sldChg>
      <pc:sldChg chg="delSp modSp">
        <pc:chgData name="ABHISHEK PATIL - 70532300014" userId="S::abhishek.patil014@nmims.in::4b116ed5-58f7-439c-9d2a-ade80a85f347" providerId="AD" clId="Web-{2873F982-49A8-D494-B29C-F435D711665E}" dt="2026-08-02T08:24:40.819" v="45"/>
        <pc:sldMkLst>
          <pc:docMk/>
          <pc:sldMk cId="1062228274" sldId="266"/>
        </pc:sldMkLst>
      </pc:sldChg>
      <pc:sldChg chg="delSp">
        <pc:chgData name="ABHISHEK PATIL - 70532300014" userId="S::abhishek.patil014@nmims.in::4b116ed5-58f7-439c-9d2a-ade80a85f347" providerId="AD" clId="Web-{2873F982-49A8-D494-B29C-F435D711665E}" dt="2026-08-02T08:23:17.879" v="15"/>
        <pc:sldMkLst>
          <pc:docMk/>
          <pc:sldMk cId="1549260551" sldId="267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3"/>
          <p:cNvSpPr txBox="1">
            <a:spLocks noGrp="1"/>
          </p:cNvSpPr>
          <p:nvPr>
            <p:ph type="dt" idx="10"/>
          </p:nvPr>
        </p:nvSpPr>
        <p:spPr>
          <a:xfrm>
            <a:off x="457200" y="6381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3"/>
          <p:cNvSpPr txBox="1">
            <a:spLocks noGrp="1"/>
          </p:cNvSpPr>
          <p:nvPr>
            <p:ph type="ftr" idx="11"/>
          </p:nvPr>
        </p:nvSpPr>
        <p:spPr>
          <a:xfrm>
            <a:off x="3122488" y="637354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3"/>
          <p:cNvSpPr txBox="1">
            <a:spLocks noGrp="1"/>
          </p:cNvSpPr>
          <p:nvPr>
            <p:ph type="sldNum" idx="12"/>
          </p:nvPr>
        </p:nvSpPr>
        <p:spPr>
          <a:xfrm>
            <a:off x="6553200" y="637354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>
            <a:spLocks noGrp="1"/>
          </p:cNvSpPr>
          <p:nvPr>
            <p:ph type="title"/>
          </p:nvPr>
        </p:nvSpPr>
        <p:spPr>
          <a:xfrm>
            <a:off x="457200" y="1295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4"/>
          <p:cNvSpPr txBox="1">
            <a:spLocks noGrp="1"/>
          </p:cNvSpPr>
          <p:nvPr>
            <p:ph type="body" idx="1"/>
          </p:nvPr>
        </p:nvSpPr>
        <p:spPr>
          <a:xfrm>
            <a:off x="457200" y="2286000"/>
            <a:ext cx="8229600" cy="4070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❑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4"/>
          <p:cNvSpPr txBox="1">
            <a:spLocks noGrp="1"/>
          </p:cNvSpPr>
          <p:nvPr>
            <p:ph type="dt" idx="10"/>
          </p:nvPr>
        </p:nvSpPr>
        <p:spPr>
          <a:xfrm>
            <a:off x="457200" y="6381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4"/>
          <p:cNvSpPr txBox="1">
            <a:spLocks noGrp="1"/>
          </p:cNvSpPr>
          <p:nvPr>
            <p:ph type="ftr" idx="11"/>
          </p:nvPr>
        </p:nvSpPr>
        <p:spPr>
          <a:xfrm>
            <a:off x="3122488" y="637354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4"/>
          <p:cNvSpPr txBox="1">
            <a:spLocks noGrp="1"/>
          </p:cNvSpPr>
          <p:nvPr>
            <p:ph type="sldNum" idx="12"/>
          </p:nvPr>
        </p:nvSpPr>
        <p:spPr>
          <a:xfrm>
            <a:off x="6553200" y="637354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dt" idx="10"/>
          </p:nvPr>
        </p:nvSpPr>
        <p:spPr>
          <a:xfrm>
            <a:off x="457200" y="6381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ftr" idx="11"/>
          </p:nvPr>
        </p:nvSpPr>
        <p:spPr>
          <a:xfrm>
            <a:off x="3122488" y="637354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5"/>
          <p:cNvSpPr txBox="1">
            <a:spLocks noGrp="1"/>
          </p:cNvSpPr>
          <p:nvPr>
            <p:ph type="sldNum" idx="12"/>
          </p:nvPr>
        </p:nvSpPr>
        <p:spPr>
          <a:xfrm>
            <a:off x="6553200" y="637354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>
            <a:spLocks noGrp="1"/>
          </p:cNvSpPr>
          <p:nvPr>
            <p:ph type="title"/>
          </p:nvPr>
        </p:nvSpPr>
        <p:spPr>
          <a:xfrm>
            <a:off x="457200" y="1295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❑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▪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❑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▪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6"/>
          <p:cNvSpPr txBox="1">
            <a:spLocks noGrp="1"/>
          </p:cNvSpPr>
          <p:nvPr>
            <p:ph type="dt" idx="10"/>
          </p:nvPr>
        </p:nvSpPr>
        <p:spPr>
          <a:xfrm>
            <a:off x="457200" y="6381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6"/>
          <p:cNvSpPr txBox="1">
            <a:spLocks noGrp="1"/>
          </p:cNvSpPr>
          <p:nvPr>
            <p:ph type="ftr" idx="11"/>
          </p:nvPr>
        </p:nvSpPr>
        <p:spPr>
          <a:xfrm>
            <a:off x="3122488" y="637354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6"/>
          <p:cNvSpPr txBox="1">
            <a:spLocks noGrp="1"/>
          </p:cNvSpPr>
          <p:nvPr>
            <p:ph type="sldNum" idx="12"/>
          </p:nvPr>
        </p:nvSpPr>
        <p:spPr>
          <a:xfrm>
            <a:off x="6553200" y="637354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>
            <a:spLocks noGrp="1"/>
          </p:cNvSpPr>
          <p:nvPr>
            <p:ph type="title"/>
          </p:nvPr>
        </p:nvSpPr>
        <p:spPr>
          <a:xfrm>
            <a:off x="457200" y="1295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❑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❑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7"/>
          <p:cNvSpPr txBox="1">
            <a:spLocks noGrp="1"/>
          </p:cNvSpPr>
          <p:nvPr>
            <p:ph type="dt" idx="10"/>
          </p:nvPr>
        </p:nvSpPr>
        <p:spPr>
          <a:xfrm>
            <a:off x="457200" y="6381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7"/>
          <p:cNvSpPr txBox="1">
            <a:spLocks noGrp="1"/>
          </p:cNvSpPr>
          <p:nvPr>
            <p:ph type="ftr" idx="11"/>
          </p:nvPr>
        </p:nvSpPr>
        <p:spPr>
          <a:xfrm>
            <a:off x="3122488" y="637354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7"/>
          <p:cNvSpPr txBox="1">
            <a:spLocks noGrp="1"/>
          </p:cNvSpPr>
          <p:nvPr>
            <p:ph type="sldNum" idx="12"/>
          </p:nvPr>
        </p:nvSpPr>
        <p:spPr>
          <a:xfrm>
            <a:off x="6553200" y="637354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>
            <a:spLocks noGrp="1"/>
          </p:cNvSpPr>
          <p:nvPr>
            <p:ph type="title"/>
          </p:nvPr>
        </p:nvSpPr>
        <p:spPr>
          <a:xfrm>
            <a:off x="457200" y="1295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8"/>
          <p:cNvSpPr txBox="1">
            <a:spLocks noGrp="1"/>
          </p:cNvSpPr>
          <p:nvPr>
            <p:ph type="dt" idx="10"/>
          </p:nvPr>
        </p:nvSpPr>
        <p:spPr>
          <a:xfrm>
            <a:off x="457200" y="6381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8"/>
          <p:cNvSpPr txBox="1">
            <a:spLocks noGrp="1"/>
          </p:cNvSpPr>
          <p:nvPr>
            <p:ph type="ftr" idx="11"/>
          </p:nvPr>
        </p:nvSpPr>
        <p:spPr>
          <a:xfrm>
            <a:off x="3122488" y="637354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8"/>
          <p:cNvSpPr txBox="1">
            <a:spLocks noGrp="1"/>
          </p:cNvSpPr>
          <p:nvPr>
            <p:ph type="sldNum" idx="12"/>
          </p:nvPr>
        </p:nvSpPr>
        <p:spPr>
          <a:xfrm>
            <a:off x="6553200" y="637354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>
            <a:spLocks noGrp="1"/>
          </p:cNvSpPr>
          <p:nvPr>
            <p:ph type="dt" idx="10"/>
          </p:nvPr>
        </p:nvSpPr>
        <p:spPr>
          <a:xfrm>
            <a:off x="457200" y="6381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ftr" idx="11"/>
          </p:nvPr>
        </p:nvSpPr>
        <p:spPr>
          <a:xfrm>
            <a:off x="3122488" y="637354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sldNum" idx="12"/>
          </p:nvPr>
        </p:nvSpPr>
        <p:spPr>
          <a:xfrm>
            <a:off x="6553200" y="637354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0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0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❑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▪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▪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0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20"/>
          <p:cNvSpPr txBox="1">
            <a:spLocks noGrp="1"/>
          </p:cNvSpPr>
          <p:nvPr>
            <p:ph type="dt" idx="10"/>
          </p:nvPr>
        </p:nvSpPr>
        <p:spPr>
          <a:xfrm>
            <a:off x="457200" y="6381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0"/>
          <p:cNvSpPr txBox="1">
            <a:spLocks noGrp="1"/>
          </p:cNvSpPr>
          <p:nvPr>
            <p:ph type="ftr" idx="11"/>
          </p:nvPr>
        </p:nvSpPr>
        <p:spPr>
          <a:xfrm>
            <a:off x="3122488" y="637354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0"/>
          <p:cNvSpPr txBox="1">
            <a:spLocks noGrp="1"/>
          </p:cNvSpPr>
          <p:nvPr>
            <p:ph type="sldNum" idx="12"/>
          </p:nvPr>
        </p:nvSpPr>
        <p:spPr>
          <a:xfrm>
            <a:off x="6553200" y="637354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1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1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21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21"/>
          <p:cNvSpPr txBox="1">
            <a:spLocks noGrp="1"/>
          </p:cNvSpPr>
          <p:nvPr>
            <p:ph type="dt" idx="10"/>
          </p:nvPr>
        </p:nvSpPr>
        <p:spPr>
          <a:xfrm>
            <a:off x="457200" y="6381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1"/>
          <p:cNvSpPr txBox="1">
            <a:spLocks noGrp="1"/>
          </p:cNvSpPr>
          <p:nvPr>
            <p:ph type="ftr" idx="11"/>
          </p:nvPr>
        </p:nvSpPr>
        <p:spPr>
          <a:xfrm>
            <a:off x="3122488" y="637354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1"/>
          <p:cNvSpPr txBox="1">
            <a:spLocks noGrp="1"/>
          </p:cNvSpPr>
          <p:nvPr>
            <p:ph type="sldNum" idx="12"/>
          </p:nvPr>
        </p:nvSpPr>
        <p:spPr>
          <a:xfrm>
            <a:off x="6553200" y="637354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2"/>
          <p:cNvSpPr txBox="1">
            <a:spLocks noGrp="1"/>
          </p:cNvSpPr>
          <p:nvPr>
            <p:ph type="title"/>
          </p:nvPr>
        </p:nvSpPr>
        <p:spPr>
          <a:xfrm>
            <a:off x="457200" y="1295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2"/>
          <p:cNvSpPr txBox="1">
            <a:spLocks noGrp="1"/>
          </p:cNvSpPr>
          <p:nvPr>
            <p:ph type="body" idx="1"/>
          </p:nvPr>
        </p:nvSpPr>
        <p:spPr>
          <a:xfrm rot="5400000">
            <a:off x="2536824" y="206375"/>
            <a:ext cx="4070351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❑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2"/>
          <p:cNvSpPr txBox="1">
            <a:spLocks noGrp="1"/>
          </p:cNvSpPr>
          <p:nvPr>
            <p:ph type="dt" idx="10"/>
          </p:nvPr>
        </p:nvSpPr>
        <p:spPr>
          <a:xfrm>
            <a:off x="457200" y="6381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2"/>
          <p:cNvSpPr txBox="1">
            <a:spLocks noGrp="1"/>
          </p:cNvSpPr>
          <p:nvPr>
            <p:ph type="ftr" idx="11"/>
          </p:nvPr>
        </p:nvSpPr>
        <p:spPr>
          <a:xfrm>
            <a:off x="3122488" y="637354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2"/>
          <p:cNvSpPr txBox="1">
            <a:spLocks noGrp="1"/>
          </p:cNvSpPr>
          <p:nvPr>
            <p:ph type="sldNum" idx="12"/>
          </p:nvPr>
        </p:nvSpPr>
        <p:spPr>
          <a:xfrm>
            <a:off x="6553200" y="637354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3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3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❑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3"/>
          <p:cNvSpPr txBox="1">
            <a:spLocks noGrp="1"/>
          </p:cNvSpPr>
          <p:nvPr>
            <p:ph type="dt" idx="10"/>
          </p:nvPr>
        </p:nvSpPr>
        <p:spPr>
          <a:xfrm>
            <a:off x="457200" y="6381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3"/>
          <p:cNvSpPr txBox="1">
            <a:spLocks noGrp="1"/>
          </p:cNvSpPr>
          <p:nvPr>
            <p:ph type="ftr" idx="11"/>
          </p:nvPr>
        </p:nvSpPr>
        <p:spPr>
          <a:xfrm>
            <a:off x="3122488" y="637354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3"/>
          <p:cNvSpPr txBox="1">
            <a:spLocks noGrp="1"/>
          </p:cNvSpPr>
          <p:nvPr>
            <p:ph type="sldNum" idx="12"/>
          </p:nvPr>
        </p:nvSpPr>
        <p:spPr>
          <a:xfrm>
            <a:off x="6553200" y="637354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>
            <a:spLocks noGrp="1"/>
          </p:cNvSpPr>
          <p:nvPr>
            <p:ph type="title"/>
          </p:nvPr>
        </p:nvSpPr>
        <p:spPr>
          <a:xfrm>
            <a:off x="457200" y="1295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sz="3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2"/>
          <p:cNvSpPr txBox="1">
            <a:spLocks noGrp="1"/>
          </p:cNvSpPr>
          <p:nvPr>
            <p:ph type="body" idx="1"/>
          </p:nvPr>
        </p:nvSpPr>
        <p:spPr>
          <a:xfrm>
            <a:off x="457200" y="2286000"/>
            <a:ext cx="8229600" cy="4070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2"/>
          <p:cNvSpPr txBox="1">
            <a:spLocks noGrp="1"/>
          </p:cNvSpPr>
          <p:nvPr>
            <p:ph type="dt" idx="10"/>
          </p:nvPr>
        </p:nvSpPr>
        <p:spPr>
          <a:xfrm>
            <a:off x="457200" y="6381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2"/>
          <p:cNvSpPr txBox="1">
            <a:spLocks noGrp="1"/>
          </p:cNvSpPr>
          <p:nvPr>
            <p:ph type="ftr" idx="11"/>
          </p:nvPr>
        </p:nvSpPr>
        <p:spPr>
          <a:xfrm>
            <a:off x="3122488" y="637354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2"/>
          <p:cNvSpPr txBox="1">
            <a:spLocks noGrp="1"/>
          </p:cNvSpPr>
          <p:nvPr>
            <p:ph type="sldNum" idx="12"/>
          </p:nvPr>
        </p:nvSpPr>
        <p:spPr>
          <a:xfrm>
            <a:off x="6553200" y="637354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868680"/>
            <a:ext cx="914400" cy="9509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74519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333333"/>
                </a:solidFill>
                <a:latin typeface="Times New Roman"/>
              </a:defRPr>
            </a:pPr>
            <a:r>
              <a:t>Department of Information Technology</a:t>
            </a:r>
          </a:p>
          <a:p>
            <a:pPr algn="ctr">
              <a:defRPr sz="1300">
                <a:solidFill>
                  <a:srgbClr val="666666"/>
                </a:solidFill>
                <a:latin typeface="Times New Roman"/>
              </a:defRPr>
            </a:pPr>
            <a:r>
              <a:t>Mukesh Patel School of Technology Management &amp; Engineering</a:t>
            </a:r>
          </a:p>
          <a:p>
            <a:pPr algn="ctr">
              <a:defRPr sz="1200">
                <a:solidFill>
                  <a:srgbClr val="666666"/>
                </a:solidFill>
                <a:latin typeface="Times New Roman"/>
              </a:defRPr>
            </a:pPr>
            <a:r>
              <a:t>SVKM's NMIMS Shirpur Campus | Academic Year 2026-27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88920"/>
            <a:ext cx="8046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BC312C"/>
                </a:solidFill>
                <a:latin typeface="Times New Roman"/>
              </a:defRPr>
            </a:pPr>
            <a:r>
              <a:t>Final Project Presentation</a:t>
            </a:r>
          </a:p>
          <a:p>
            <a:pPr algn="ctr">
              <a:defRPr sz="1300">
                <a:solidFill>
                  <a:srgbClr val="666666"/>
                </a:solidFill>
                <a:latin typeface="Times New Roman"/>
              </a:defRPr>
            </a:pPr>
            <a:r>
              <a:t>on</a:t>
            </a:r>
          </a:p>
          <a:p>
            <a:pPr algn="ctr">
              <a:defRPr sz="2100" b="1">
                <a:solidFill>
                  <a:srgbClr val="333333"/>
                </a:solidFill>
                <a:latin typeface="Times New Roman"/>
              </a:defRPr>
            </a:pPr>
            <a:r>
              <a:t>“AI Student Agent: An Autonomous AI Learning Assistant for Real-Time Online Classes”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434840"/>
            <a:ext cx="7680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33333"/>
                </a:solidFill>
                <a:latin typeface="Times New Roman"/>
              </a:defRPr>
            </a:pPr>
            <a:r>
              <a:t>Presented By:</a:t>
            </a:r>
          </a:p>
          <a:p>
            <a:pPr algn="ctr"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1. Aman Choudhary (70012300166)     2. Pranav Patil (70012400176)     3. Mohit Patil (70012400178)</a:t>
            </a:r>
          </a:p>
          <a:p>
            <a:pPr algn="ctr">
              <a:defRPr sz="1300" b="1">
                <a:solidFill>
                  <a:srgbClr val="333333"/>
                </a:solidFill>
                <a:latin typeface="Times New Roman"/>
              </a:defRPr>
            </a:pPr>
            <a:br/>
            <a:r>
              <a:t>Under the Guidance of:</a:t>
            </a:r>
          </a:p>
          <a:p>
            <a:pPr algn="ctr">
              <a:defRPr sz="1200">
                <a:solidFill>
                  <a:srgbClr val="BC312C"/>
                </a:solidFill>
                <a:latin typeface="Times New Roman"/>
              </a:defRPr>
            </a:pPr>
            <a:r>
              <a:t>Dr. Pravin Landge (Faculty Mentor, Department of Information Technology)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51560"/>
            <a:ext cx="77724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333333"/>
                </a:solidFill>
                <a:latin typeface="Times New Roman"/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6327648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>
                <a:solidFill>
                  <a:srgbClr val="666666"/>
                </a:solidFill>
                <a:latin typeface="Times New Roman"/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46634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250" b="1">
                <a:solidFill>
                  <a:srgbClr val="333333"/>
                </a:solidFill>
                <a:latin typeface="Times New Roman"/>
              </a:rPr>
              <a:t>Split-Attention &amp; Cognitive Load: </a:t>
            </a:r>
            <a:r>
              <a:rPr sz="1250" b="0">
                <a:solidFill>
                  <a:srgbClr val="333333"/>
                </a:solidFill>
                <a:latin typeface="Times New Roman"/>
              </a:rPr>
              <a:t>Students suffer acute mental fatigue trying to simultaneously follow complex lecture derivations, take running notes, and watch chat streams (Sweller's CLT).</a:t>
            </a:r>
          </a:p>
          <a:p>
            <a:pPr>
              <a:spcAft>
                <a:spcPts val="1000"/>
              </a:spcAft>
            </a:pPr>
            <a:r>
              <a:rPr sz="1250" b="1">
                <a:solidFill>
                  <a:srgbClr val="333333"/>
                </a:solidFill>
                <a:latin typeface="Times New Roman"/>
              </a:rPr>
              <a:t>Autonomy Gap in EdTech: </a:t>
            </a:r>
            <a:r>
              <a:rPr sz="1250" b="0">
                <a:solidFill>
                  <a:srgbClr val="333333"/>
                </a:solidFill>
                <a:latin typeface="Times New Roman"/>
              </a:rPr>
              <a:t>Existing AI tools (ChatGPT, Copilot) are passive web forms; they cannot listen to live meeting audio or take autonomous action in the call.</a:t>
            </a:r>
          </a:p>
          <a:p>
            <a:pPr>
              <a:spcAft>
                <a:spcPts val="1000"/>
              </a:spcAft>
            </a:pPr>
            <a:r>
              <a:rPr sz="1250" b="1">
                <a:solidFill>
                  <a:srgbClr val="333333"/>
                </a:solidFill>
                <a:latin typeface="Times New Roman"/>
              </a:rPr>
              <a:t>Ephemeral Class Discussions: </a:t>
            </a:r>
            <a:r>
              <a:rPr sz="1250" b="0">
                <a:solidFill>
                  <a:srgbClr val="333333"/>
                </a:solidFill>
                <a:latin typeface="Times New Roman"/>
              </a:rPr>
              <a:t>Crucial verbal explanations, Q&amp;A interactions, and attendance roll-calls vanish immediately once the Google Meet session terminates.</a:t>
            </a:r>
          </a:p>
          <a:p>
            <a:pPr>
              <a:spcAft>
                <a:spcPts val="1000"/>
              </a:spcAft>
            </a:pPr>
            <a:r>
              <a:rPr sz="1250" b="1">
                <a:solidFill>
                  <a:srgbClr val="333333"/>
                </a:solidFill>
                <a:latin typeface="Times New Roman"/>
              </a:rPr>
              <a:t>Unbounded LLM Hallucinations: </a:t>
            </a:r>
            <a:r>
              <a:rPr sz="1250" b="0">
                <a:solidFill>
                  <a:srgbClr val="333333"/>
                </a:solidFill>
                <a:latin typeface="Times New Roman"/>
              </a:rPr>
              <a:t>General-purpose models hallucinate unless strictly grounded in the rolling context of the instructor's immediate lecture discourse.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333333"/>
                </a:solidFill>
                <a:latin typeface="Times New Roman"/>
              </a:rPr>
              <a:t>Participation &amp; Cold-Call Risk: </a:t>
            </a:r>
            <a:r>
              <a:rPr sz="1250" b="0">
                <a:solidFill>
                  <a:srgbClr val="333333"/>
                </a:solidFill>
                <a:latin typeface="Times New Roman"/>
              </a:rPr>
              <a:t>Missing a verbal name callout due to distraction or audio lag leads to penalized participation grades and attendance loss.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0" y="1737360"/>
            <a:ext cx="3383280" cy="434340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0" y="1874519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BC312C"/>
                </a:solidFill>
                <a:latin typeface="Times New Roman"/>
              </a:defRPr>
            </a:pPr>
            <a:r>
              <a:t>What Happens in a Live Online Class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2331720"/>
            <a:ext cx="30175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7840" y="2377439"/>
            <a:ext cx="24688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33333"/>
                </a:solidFill>
                <a:latin typeface="Times New Roman"/>
              </a:defRPr>
            </a:pPr>
            <a:r>
              <a:t>Instructor Spoken Cold-Call</a:t>
            </a:r>
          </a:p>
          <a:p>
            <a:pPr>
              <a:defRPr sz="950">
                <a:solidFill>
                  <a:srgbClr val="666666"/>
                </a:solidFill>
                <a:latin typeface="Times New Roman"/>
              </a:defRPr>
            </a:pPr>
            <a:r>
              <a:t>“Justin, can you explain how paging prevents external fragmentation?”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2468879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BC312C"/>
                </a:solidFill>
                <a:latin typeface="Times New Roman"/>
              </a:defRPr>
            </a:pPr>
            <a:r>
              <a:t>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0" y="3154680"/>
            <a:ext cx="30175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77840" y="3200400"/>
            <a:ext cx="24688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33333"/>
                </a:solidFill>
                <a:latin typeface="Times New Roman"/>
              </a:defRPr>
            </a:pPr>
            <a:r>
              <a:t>Cognitive Split-Attention Conflict</a:t>
            </a:r>
          </a:p>
          <a:p>
            <a:pPr>
              <a:defRPr sz="950">
                <a:solidFill>
                  <a:srgbClr val="666666"/>
                </a:solidFill>
                <a:latin typeface="Times New Roman"/>
              </a:defRPr>
            </a:pPr>
            <a:r>
              <a:t>Student transcribing diagram -&gt; must stop notes -&gt; search memory -&gt; formulate answer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329184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BC312C"/>
                </a:solidFill>
                <a:latin typeface="Times New Roman"/>
              </a:defRPr>
            </a:pPr>
            <a:r>
              <a:t>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0" y="3977639"/>
            <a:ext cx="30175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77840" y="4023359"/>
            <a:ext cx="24688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33333"/>
                </a:solidFill>
                <a:latin typeface="Times New Roman"/>
              </a:defRPr>
            </a:pPr>
            <a:r>
              <a:t>10–15 Second Response Delay</a:t>
            </a:r>
          </a:p>
          <a:p>
            <a:pPr>
              <a:defRPr sz="950">
                <a:solidFill>
                  <a:srgbClr val="666666"/>
                </a:solidFill>
                <a:latin typeface="Times New Roman"/>
              </a:defRPr>
            </a:pPr>
            <a:r>
              <a:t>Typing in chat takes too long -&gt; Teacher assumes student is absent or inattentive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411480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BC312C"/>
                </a:solidFill>
                <a:latin typeface="Times New Roman"/>
              </a:defRPr>
            </a:pPr>
            <a:r>
              <a:t>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0" y="4800600"/>
            <a:ext cx="3017520" cy="1097280"/>
          </a:xfrm>
          <a:prstGeom prst="roundRect">
            <a:avLst/>
          </a:prstGeom>
          <a:solidFill>
            <a:srgbClr val="FDF2F2"/>
          </a:solidFill>
          <a:ln w="12700">
            <a:solidFill>
              <a:srgbClr val="BC3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77840" y="4846320"/>
            <a:ext cx="2834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BC312C"/>
                </a:solidFill>
                <a:latin typeface="Times New Roman"/>
              </a:defRPr>
            </a:pPr>
            <a:r>
              <a:t>The Assistive Necessity:</a:t>
            </a:r>
          </a:p>
          <a:p>
            <a:pPr>
              <a:defRPr sz="1000">
                <a:solidFill>
                  <a:srgbClr val="333333"/>
                </a:solidFill>
                <a:latin typeface="Times New Roman"/>
              </a:defRPr>
            </a:pPr>
            <a:r>
              <a:t>An ambient agent must listen continuously, identify student name callouts, formulate grounded answers in &lt;4s, and sync notes to Notion.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51560"/>
            <a:ext cx="77724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333333"/>
                </a:solidFill>
                <a:latin typeface="Times New Roman"/>
              </a:defRPr>
            </a:pPr>
            <a:r>
              <a:t>Motivation and Need of the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6327648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>
                <a:solidFill>
                  <a:srgbClr val="666666"/>
                </a:solidFill>
                <a:latin typeface="Times New Roman"/>
              </a:defRPr>
            </a:pPr>
            <a:r>
              <a:t>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737360"/>
            <a:ext cx="402336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C3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74520"/>
            <a:ext cx="365760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BC312C"/>
                </a:solidFill>
                <a:latin typeface="Times New Roman"/>
              </a:defRPr>
            </a:pPr>
            <a:r>
              <a:t>Cognitive Overload &amp; Multitasking</a:t>
            </a:r>
          </a:p>
          <a:p>
            <a:pPr>
              <a:defRPr sz="1050">
                <a:solidFill>
                  <a:srgbClr val="333333"/>
                </a:solidFill>
                <a:latin typeface="Times New Roman"/>
              </a:defRPr>
            </a:pPr>
            <a:r>
              <a:t>Students in virtual classes face extreme cognitive strain balancing real-time auditory intake, visual slide comprehension, manual note-taking, and active chat participation.</a:t>
            </a:r>
            <a:br/>
            <a:br/>
            <a:r>
              <a:t>Constant task switching leads to information omission, mental exhaustion, and degraded concept retention.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1737360"/>
            <a:ext cx="402336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0" y="1874520"/>
            <a:ext cx="365760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2E5F8A"/>
                </a:solidFill>
                <a:latin typeface="Times New Roman"/>
              </a:defRPr>
            </a:pPr>
            <a:r>
              <a:t>Ephemeral Academic Knowledge</a:t>
            </a:r>
          </a:p>
          <a:p>
            <a:pPr>
              <a:defRPr sz="1050">
                <a:solidFill>
                  <a:srgbClr val="333333"/>
                </a:solidFill>
                <a:latin typeface="Times New Roman"/>
              </a:defRPr>
            </a:pPr>
            <a:r>
              <a:t>Synchronous virtual lectures generate thousands of words of spoken instruction that disappear the instant the call ends.</a:t>
            </a:r>
            <a:br/>
            <a:br/>
            <a:r>
              <a:t>Without an automated capture and structuring pipeline, critical insights, derivations, and verbal Q&amp;A exchanges are permanently lost to the learner.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931920"/>
            <a:ext cx="402336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8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069080"/>
            <a:ext cx="365760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C98A2C"/>
                </a:solidFill>
                <a:latin typeface="Times New Roman"/>
              </a:defRPr>
            </a:pPr>
            <a:r>
              <a:t>Inadequacy of Traditional AI Assistants</a:t>
            </a:r>
          </a:p>
          <a:p>
            <a:pPr>
              <a:defRPr sz="1050">
                <a:solidFill>
                  <a:srgbClr val="333333"/>
                </a:solidFill>
                <a:latin typeface="Times New Roman"/>
              </a:defRPr>
            </a:pPr>
            <a:r>
              <a:t>Current flagship AI platforms (ChatGPT, Claude, Copilot) are completely blind and deaf to the live online classroom environment.</a:t>
            </a:r>
            <a:br/>
            <a:br/>
            <a:r>
              <a:t>They require manual copy-pasting of questions into external browser tabs, a process far too slow and distracting for spontaneous in-class interactions.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3931920"/>
            <a:ext cx="402336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F8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4069080"/>
            <a:ext cx="365760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F8F5C"/>
                </a:solidFill>
                <a:latin typeface="Times New Roman"/>
              </a:defRPr>
            </a:pPr>
            <a:r>
              <a:t>Engineering Need &amp; Solution Vision</a:t>
            </a:r>
          </a:p>
          <a:p>
            <a:pPr>
              <a:defRPr sz="1050">
                <a:solidFill>
                  <a:srgbClr val="333333"/>
                </a:solidFill>
                <a:latin typeface="Times New Roman"/>
              </a:defRPr>
            </a:pPr>
            <a:r>
              <a:t>A real-time autonomous student agent that runs locally on consumer hardware, captures lecture audio with zero feedback, decodes speech offline at $0 cloud cost, auto-replies to cold-calls in &lt;4s, and persists notes to Notion.</a:t>
            </a:r>
            <a:br/>
            <a:br/>
            <a:r>
              <a:t>Eliminates cognitive burden while preserving full academic agency.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51560"/>
            <a:ext cx="77724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333333"/>
                </a:solidFill>
                <a:latin typeface="Times New Roman"/>
              </a:defRPr>
            </a:pPr>
            <a: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6327648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>
                <a:solidFill>
                  <a:srgbClr val="666666"/>
                </a:solidFill>
                <a:latin typeface="Times New Roman"/>
              </a:defRPr>
            </a:pPr>
            <a:r>
              <a:t>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2560320" cy="4251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C3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508760" y="1965960"/>
            <a:ext cx="457200" cy="457200"/>
          </a:xfrm>
          <a:prstGeom prst="ellipse">
            <a:avLst/>
          </a:prstGeom>
          <a:solidFill>
            <a:srgbClr val="BC3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Times New Roman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51460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50" b="1">
                <a:solidFill>
                  <a:srgbClr val="BC312C"/>
                </a:solidFill>
                <a:latin typeface="Times New Roman"/>
              </a:defRPr>
            </a:pPr>
            <a:r>
              <a:t>Zero-Cloud-Cost Ambient Listening &amp; ASR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200400"/>
            <a:ext cx="2286000" cy="2788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333333"/>
                </a:solidFill>
                <a:latin typeface="Times New Roman"/>
              </a:rPr>
              <a:t>Virtual Audio Conduit:  </a:t>
            </a:r>
            <a:r>
              <a:rPr sz="1000" b="0">
                <a:solidFill>
                  <a:srgbClr val="333333"/>
                </a:solidFill>
                <a:latin typeface="Times New Roman"/>
              </a:rPr>
              <a:t>Intercept Google Meet speaker audio via VB-Audio Virtual Cable as a clean 16 kHz mono 16-bit PCM stream without microphone feedback loops.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333333"/>
                </a:solidFill>
                <a:latin typeface="Times New Roman"/>
              </a:rPr>
              <a:t>Offline Speech Recognition:  </a:t>
            </a:r>
            <a:r>
              <a:rPr sz="1000" b="0">
                <a:solidFill>
                  <a:srgbClr val="333333"/>
                </a:solidFill>
                <a:latin typeface="Times New Roman"/>
              </a:rPr>
              <a:t>Deploy VOSK toolkit with Kaldi WFST acoustic modeling locally on CPU, ensuring continuous monitoring with sub-500ms latency and $0 cloud fees.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333333"/>
                </a:solidFill>
                <a:latin typeface="Times New Roman"/>
              </a:rPr>
              <a:t>Noise Filtering:  </a:t>
            </a:r>
            <a:r>
              <a:rPr sz="1000" b="0">
                <a:solidFill>
                  <a:srgbClr val="333333"/>
                </a:solidFill>
                <a:latin typeface="Times New Roman"/>
              </a:rPr>
              <a:t>Apply SciPy Butterworth 4th-order bandpass filter (300 Hz–3,400 Hz) to eliminate 50 Hz hum and enhance speech formants.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828800"/>
            <a:ext cx="2560320" cy="4251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343400" y="1965960"/>
            <a:ext cx="457200" cy="457200"/>
          </a:xfrm>
          <a:prstGeom prst="ellipse">
            <a:avLst/>
          </a:prstGeom>
          <a:solidFill>
            <a:srgbClr val="2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Times New Roman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251460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50" b="1">
                <a:solidFill>
                  <a:srgbClr val="2E5F8A"/>
                </a:solidFill>
                <a:latin typeface="Times New Roman"/>
              </a:defRPr>
            </a:pPr>
            <a:r>
              <a:t>Contextual Trigger &amp; Autonomous In-Call Chat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3200400"/>
            <a:ext cx="2286000" cy="2788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333333"/>
                </a:solidFill>
                <a:latin typeface="Times New Roman"/>
              </a:rPr>
              <a:t>Sliding Context Deque:  </a:t>
            </a:r>
            <a:r>
              <a:rPr sz="1000" b="0">
                <a:solidFill>
                  <a:srgbClr val="333333"/>
                </a:solidFill>
                <a:latin typeface="Times New Roman"/>
              </a:rPr>
              <a:t>Maintain an in-memory 50-word rolling history to preserve discourse flow, dynamically extracting 15 words upon trigger detection.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333333"/>
                </a:solidFill>
                <a:latin typeface="Times New Roman"/>
              </a:rPr>
              <a:t>Fuzzy Phonetic Matching:  </a:t>
            </a:r>
            <a:r>
              <a:rPr sz="1000" b="0">
                <a:solidFill>
                  <a:srgbClr val="333333"/>
                </a:solidFill>
                <a:latin typeface="Times New Roman"/>
              </a:rPr>
              <a:t>Utilize normalized Levenshtein distance (Sim &gt;= 0.80) and acoustic confidence gating (&gt;= 0.70) with lookahead to detect student name callouts.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333333"/>
                </a:solidFill>
                <a:latin typeface="Times New Roman"/>
              </a:rPr>
              <a:t>Grounded Q&amp;A Dispatch:  </a:t>
            </a:r>
            <a:r>
              <a:rPr sz="1000" b="0">
                <a:solidFill>
                  <a:srgbClr val="333333"/>
                </a:solidFill>
                <a:latin typeface="Times New Roman"/>
              </a:rPr>
              <a:t>Query OpenAI GPT-4o-mini for grounded responses and inject into Google Meet chat via Selenium DOM automation in &lt; 4.0 seconds.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828800"/>
            <a:ext cx="2560320" cy="4251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F8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78040" y="1965960"/>
            <a:ext cx="457200" cy="457200"/>
          </a:xfrm>
          <a:prstGeom prst="ellipse">
            <a:avLst/>
          </a:prstGeom>
          <a:solidFill>
            <a:srgbClr val="3F8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Times New Roman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51460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50" b="1">
                <a:solidFill>
                  <a:srgbClr val="3F8F5C"/>
                </a:solidFill>
                <a:latin typeface="Times New Roman"/>
              </a:defRPr>
            </a:pPr>
            <a:r>
              <a:t>Post-Session Synthesis &amp; Notion Persistence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3200400"/>
            <a:ext cx="2286000" cy="2788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333333"/>
                </a:solidFill>
                <a:latin typeface="Times New Roman"/>
              </a:rPr>
              <a:t>Lossless Serialization:  </a:t>
            </a:r>
            <a:r>
              <a:rPr sz="1000" b="0">
                <a:solidFill>
                  <a:srgbClr val="333333"/>
                </a:solidFill>
                <a:latin typeface="Times New Roman"/>
              </a:rPr>
              <a:t>Compile all raw lecture PCM audio frames into a master debug_audio.wav file upon meeting termination.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333333"/>
                </a:solidFill>
                <a:latin typeface="Times New Roman"/>
              </a:rPr>
              <a:t>Whisper-1 Master Transcript:  </a:t>
            </a:r>
            <a:r>
              <a:rPr sz="1000" b="0">
                <a:solidFill>
                  <a:srgbClr val="333333"/>
                </a:solidFill>
                <a:latin typeface="Times New Roman"/>
              </a:rPr>
              <a:t>Execute asynchronous batch transcription via OpenAI Whisper-1 API to yield verbatim, timestamped lecture transcripts.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333333"/>
                </a:solidFill>
                <a:latin typeface="Times New Roman"/>
              </a:rPr>
              <a:t>Structured Notion Sync:  </a:t>
            </a:r>
            <a:r>
              <a:rPr sz="1000" b="0">
                <a:solidFill>
                  <a:srgbClr val="333333"/>
                </a:solidFill>
                <a:latin typeface="Times New Roman"/>
              </a:rPr>
              <a:t>Synthesize hierarchical study guides (Topic, Key Concepts, Definitions) and export formatted block trees to Notion via REST API.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51560"/>
            <a:ext cx="77724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333333"/>
                </a:solidFill>
                <a:latin typeface="Times New Roman"/>
              </a:defRPr>
            </a:pPr>
            <a:r>
              <a:t>Scope of the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6327648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>
                <a:solidFill>
                  <a:srgbClr val="666666"/>
                </a:solidFill>
                <a:latin typeface="Times New Roman"/>
              </a:defRPr>
            </a:pPr>
            <a:r>
              <a:t>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737360"/>
            <a:ext cx="402336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C3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47088"/>
            <a:ext cx="36576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BC312C"/>
                </a:solidFill>
                <a:latin typeface="Times New Roman"/>
              </a:defRPr>
            </a:pPr>
            <a:r>
              <a:t>Client Automation &amp; Meet Interface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333333"/>
                </a:solidFill>
                <a:latin typeface="Times New Roman"/>
              </a:rPr>
              <a:t>Target Platform:  </a:t>
            </a:r>
            <a:r>
              <a:rPr sz="1000" b="0">
                <a:solidFill>
                  <a:srgbClr val="333333"/>
                </a:solidFill>
                <a:latin typeface="Times New Roman"/>
              </a:rPr>
              <a:t>Google Meet web client accessed via Selenium Chrome WebDriver on Windows 10/11 consumer PCs.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333333"/>
                </a:solidFill>
                <a:latin typeface="Times New Roman"/>
              </a:rPr>
              <a:t>Modal Bypass:  </a:t>
            </a:r>
            <a:r>
              <a:rPr sz="1000" b="0">
                <a:solidFill>
                  <a:srgbClr val="333333"/>
                </a:solidFill>
                <a:latin typeface="Times New Roman"/>
              </a:rPr>
              <a:t>Automated arguments (--use-fake-ui-for-media-stream) suppress camera/microphone permission prompts.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333333"/>
                </a:solidFill>
                <a:latin typeface="Times New Roman"/>
              </a:rPr>
              <a:t>Local State Broker:  </a:t>
            </a:r>
            <a:r>
              <a:rPr sz="1000" b="0">
                <a:solidFill>
                  <a:srgbClr val="333333"/>
                </a:solidFill>
                <a:latin typeface="Times New Roman"/>
              </a:rPr>
              <a:t>Lightweight Flask HTTP server (localhost:5000) orchestrates session state, thread lifecycle, and live logs.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1737360"/>
            <a:ext cx="402336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0" y="1847088"/>
            <a:ext cx="36576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2E5F8A"/>
                </a:solidFill>
                <a:latin typeface="Times New Roman"/>
              </a:defRPr>
            </a:pPr>
            <a:r>
              <a:t>Hardware Audio Routing &amp; DSP Conditioning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333333"/>
                </a:solidFill>
                <a:latin typeface="Times New Roman"/>
              </a:rPr>
              <a:t>Virtual Conduit:  </a:t>
            </a:r>
            <a:r>
              <a:rPr sz="1000" b="0">
                <a:solidFill>
                  <a:srgbClr val="333333"/>
                </a:solidFill>
                <a:latin typeface="Times New Roman"/>
              </a:rPr>
              <a:t>Unidirectional loopback routing using VB-Audio Virtual Cable (CABLE Output -&gt; PyAudio stream).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333333"/>
                </a:solidFill>
                <a:latin typeface="Times New Roman"/>
              </a:rPr>
              <a:t>Format Standards:  </a:t>
            </a:r>
            <a:r>
              <a:rPr sz="1000" b="0">
                <a:solidFill>
                  <a:srgbClr val="333333"/>
                </a:solidFill>
                <a:latin typeface="Times New Roman"/>
              </a:rPr>
              <a:t>16 kHz sampling rate, 16-bit mono PCM chunks (4,000 bytes / 125ms non-blocking reads).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333333"/>
                </a:solidFill>
                <a:latin typeface="Times New Roman"/>
              </a:rPr>
              <a:t>SciPy DSP Pipeline:  </a:t>
            </a:r>
            <a:r>
              <a:rPr sz="1000" b="0">
                <a:solidFill>
                  <a:srgbClr val="333333"/>
                </a:solidFill>
                <a:latin typeface="Times New Roman"/>
              </a:rPr>
              <a:t>4th-order digital Butterworth bandpass filter (300 Hz–3,400 Hz) eliminates mains hum and loopback echo.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931920"/>
            <a:ext cx="402336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8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041648"/>
            <a:ext cx="36576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C98A2C"/>
                </a:solidFill>
                <a:latin typeface="Times New Roman"/>
              </a:defRPr>
            </a:pPr>
            <a:r>
              <a:t>Edge Speech &amp; Cloud Intelligence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333333"/>
                </a:solidFill>
                <a:latin typeface="Times New Roman"/>
              </a:rPr>
              <a:t>Local Offline ASR:  </a:t>
            </a:r>
            <a:r>
              <a:rPr sz="1000" b="0">
                <a:solidFill>
                  <a:srgbClr val="333333"/>
                </a:solidFill>
                <a:latin typeface="Times New Roman"/>
              </a:rPr>
              <a:t>VOSK 0.3.45 with Kaldi TDNN acoustic model running on CPU without GPU acceleration ($0 cost).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333333"/>
                </a:solidFill>
                <a:latin typeface="Times New Roman"/>
              </a:rPr>
              <a:t>Sliding Context Deque:  </a:t>
            </a:r>
            <a:r>
              <a:rPr sz="1000" b="0">
                <a:solidFill>
                  <a:srgbClr val="333333"/>
                </a:solidFill>
                <a:latin typeface="Times New Roman"/>
              </a:rPr>
              <a:t>Thread-safe collections.deque(maxlen=50) isolates recent 15-word context for prompt grounding.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333333"/>
                </a:solidFill>
                <a:latin typeface="Times New Roman"/>
              </a:rPr>
              <a:t>Frontier Models:  </a:t>
            </a:r>
            <a:r>
              <a:rPr sz="1000" b="0">
                <a:solidFill>
                  <a:srgbClr val="333333"/>
                </a:solidFill>
                <a:latin typeface="Times New Roman"/>
              </a:rPr>
              <a:t>OpenAI GPT-4o-mini for sub-2s chat reasoning; OpenAI Whisper-1 for master post-lecture transcription.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3931920"/>
            <a:ext cx="402336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F8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4041648"/>
            <a:ext cx="36576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F8F5C"/>
                </a:solidFill>
                <a:latin typeface="Times New Roman"/>
              </a:defRPr>
            </a:pPr>
            <a:r>
              <a:t>Knowledge Base &amp; Scope Boundaries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333333"/>
                </a:solidFill>
                <a:latin typeface="Times New Roman"/>
              </a:rPr>
              <a:t>Notion REST Integration:  </a:t>
            </a:r>
            <a:r>
              <a:rPr sz="1000" b="0">
                <a:solidFill>
                  <a:srgbClr val="333333"/>
                </a:solidFill>
                <a:latin typeface="Times New Roman"/>
              </a:rPr>
              <a:t>Automated schema-compliant block trees exported to user's private cloud workspace via Notion API.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333333"/>
                </a:solidFill>
                <a:latin typeface="Times New Roman"/>
              </a:rPr>
              <a:t>Strict Safety Boundaries:  </a:t>
            </a:r>
            <a:r>
              <a:rPr sz="1000" b="0">
                <a:solidFill>
                  <a:srgbClr val="333333"/>
                </a:solidFill>
                <a:latin typeface="Times New Roman"/>
              </a:rPr>
              <a:t>Educational co-pilot and proxy; no adversarial exam evasion; credentials isolated in local .env.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333333"/>
                </a:solidFill>
                <a:latin typeface="Times New Roman"/>
              </a:rPr>
              <a:t>Hardware Feasibility:  </a:t>
            </a:r>
            <a:r>
              <a:rPr sz="1000" b="0">
                <a:solidFill>
                  <a:srgbClr val="333333"/>
                </a:solidFill>
                <a:latin typeface="Times New Roman"/>
              </a:rPr>
              <a:t>Engineered to run seamlessly on standard student laptops (8GB RAM, integrated graphics).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51560"/>
            <a:ext cx="77724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333333"/>
                </a:solidFill>
                <a:latin typeface="Times New Roman"/>
              </a:defRPr>
            </a:pPr>
            <a:r>
              <a:t>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6327648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>
                <a:solidFill>
                  <a:srgbClr val="666666"/>
                </a:solidFill>
                <a:latin typeface="Times New Roman"/>
              </a:defRPr>
            </a:pPr>
            <a:r>
              <a:t>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691640"/>
          <a:ext cx="84124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468880"/>
                <a:gridCol w="2011680"/>
                <a:gridCol w="2286000"/>
              </a:tblGrid>
              <a:tr h="600891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Paper / Source</a:t>
                      </a:r>
                    </a:p>
                  </a:txBody>
                  <a:tcPr>
                    <a:solidFill>
                      <a:srgbClr val="BC31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Key Contribution</a:t>
                      </a:r>
                    </a:p>
                  </a:txBody>
                  <a:tcPr>
                    <a:solidFill>
                      <a:srgbClr val="BC31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Limitation</a:t>
                      </a:r>
                    </a:p>
                  </a:txBody>
                  <a:tcPr>
                    <a:solidFill>
                      <a:srgbClr val="BC31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How AI Student Agent Addresses It</a:t>
                      </a:r>
                    </a:p>
                  </a:txBody>
                  <a:tcPr>
                    <a:solidFill>
                      <a:srgbClr val="BC312C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Radford et al. (2023)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[OpenAI Whisper]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Weakly supervised Transformer ASR; human-level accuracy across accents.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High streaming latency and 25 MB file payload boundary.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Employed for post-session master notes; lightweight VOSK used for live speech.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Povey et al. (2011) /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Alpha Cephei (2026)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Kaldi WFST toolkit &amp; VOSK: sub-500ms local ASR on consumer CPUs.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Phonetic ambiguity on proper names and homophones.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Two-stage lookahead + normalized Levenshtein distance string matching.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Dewan et al. (2023)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End-to-end verbatim meeting transcription architecture.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Virtual loopback echo and microphone feedback corruption.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Isolated unidirectional VB-Audio Cable conduit eliminating virtual loopback echo.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Laskar et al. (2023)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Role-directed LLM prompting for meeting summarization.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Lacks real-time in-call grounding; context limits on long calls.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Rolling 50-word context deque feeds immediate lecture discourse to GPT-4o-mini.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Wollny et al. (2021) /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Taneja et al. (2024)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Taxonomy of educational chatbots (90% operate at passive Level 1).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Passive web forms; deaf/blind to live audio interactions.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Implements Level 3 autonomous agent acting directly inside Google Meet chat.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89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Bhardwaj &amp; Kumar (2025)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Robotic process automation in higher education administration.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Rigid DOM selectors break during continuous Google web updates.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Resilient multi-selector fallback chains anchored to immutable ARIA attributes.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59893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66666"/>
                </a:solidFill>
                <a:latin typeface="Times New Roman"/>
              </a:defRPr>
            </a:pPr>
            <a:r>
              <a:t>Survey of 18 peer-reviewed publications (2011–2026); full references detailed on final slides.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51560"/>
            <a:ext cx="77724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333333"/>
                </a:solidFill>
                <a:latin typeface="Times New Roman"/>
              </a:defRPr>
            </a:pPr>
            <a:r>
              <a:t>Research Gaps Addressed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6327648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>
                <a:solidFill>
                  <a:srgbClr val="666666"/>
                </a:solidFill>
                <a:latin typeface="Times New Roman"/>
              </a:defRPr>
            </a:pPr>
            <a:r>
              <a:t>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91640"/>
            <a:ext cx="3108960" cy="548640"/>
          </a:xfrm>
          <a:prstGeom prst="roundRect">
            <a:avLst/>
          </a:prstGeom>
          <a:solidFill>
            <a:srgbClr val="FDF2F2"/>
          </a:solidFill>
          <a:ln w="12700">
            <a:solidFill>
              <a:srgbClr val="BC3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BC312C"/>
                </a:solidFill>
                <a:latin typeface="Times New Roman"/>
              </a:defRPr>
            </a:pPr>
            <a:r>
              <a:t>Passive EdTech 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11880" y="1764792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666666"/>
                </a:solidFill>
                <a:latin typeface="Times New Roman"/>
              </a:defRPr>
            </a:pPr>
            <a:r>
              <a:t>-&gt;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23360" y="1691640"/>
            <a:ext cx="466344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F8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60520" y="1764792"/>
            <a:ext cx="44348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333333"/>
                </a:solidFill>
                <a:latin typeface="Times New Roman"/>
              </a:defRPr>
            </a:pPr>
            <a:r>
              <a:t>Event-driven autonomous agent acts proactively inside Google Meet chat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313432"/>
            <a:ext cx="3108960" cy="548640"/>
          </a:xfrm>
          <a:prstGeom prst="roundRect">
            <a:avLst/>
          </a:prstGeom>
          <a:solidFill>
            <a:srgbClr val="FDF2F2"/>
          </a:solidFill>
          <a:ln w="12700">
            <a:solidFill>
              <a:srgbClr val="BC3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404872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BC312C"/>
                </a:solidFill>
                <a:latin typeface="Times New Roman"/>
              </a:defRPr>
            </a:pPr>
            <a:r>
              <a:t>Costly Cloud Speech Streaming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386584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666666"/>
                </a:solidFill>
                <a:latin typeface="Times New Roman"/>
              </a:defRPr>
            </a:pPr>
            <a:r>
              <a:t>-&gt;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23360" y="2313432"/>
            <a:ext cx="466344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F8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60520" y="2386584"/>
            <a:ext cx="44348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333333"/>
                </a:solidFill>
                <a:latin typeface="Times New Roman"/>
              </a:defRPr>
            </a:pPr>
            <a:r>
              <a:t>100% free offline CPU decoding via VOSK ($0/hr vs $23/mo cloud streaming)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935224"/>
            <a:ext cx="3108960" cy="548640"/>
          </a:xfrm>
          <a:prstGeom prst="roundRect">
            <a:avLst/>
          </a:prstGeom>
          <a:solidFill>
            <a:srgbClr val="FDF2F2"/>
          </a:solidFill>
          <a:ln w="12700">
            <a:solidFill>
              <a:srgbClr val="BC3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26664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BC312C"/>
                </a:solidFill>
                <a:latin typeface="Times New Roman"/>
              </a:defRPr>
            </a:pPr>
            <a:r>
              <a:t>Virtual Audio Feedback &amp; Echo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3008376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666666"/>
                </a:solidFill>
                <a:latin typeface="Times New Roman"/>
              </a:defRPr>
            </a:pPr>
            <a:r>
              <a:t>-&gt;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23360" y="2935224"/>
            <a:ext cx="466344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F8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60520" y="3008376"/>
            <a:ext cx="44348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333333"/>
                </a:solidFill>
                <a:latin typeface="Times New Roman"/>
              </a:defRPr>
            </a:pPr>
            <a:r>
              <a:t>Isolated unidirectional VB-Audio Virtual Cable conduit prevents feedback loops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557016"/>
            <a:ext cx="3108960" cy="548640"/>
          </a:xfrm>
          <a:prstGeom prst="roundRect">
            <a:avLst/>
          </a:prstGeom>
          <a:solidFill>
            <a:srgbClr val="FDF2F2"/>
          </a:solidFill>
          <a:ln w="12700">
            <a:solidFill>
              <a:srgbClr val="BC3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648456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BC312C"/>
                </a:solidFill>
                <a:latin typeface="Times New Roman"/>
              </a:defRPr>
            </a:pPr>
            <a:r>
              <a:t>Phonetic Ambiguity on Names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880" y="3630168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666666"/>
                </a:solidFill>
                <a:latin typeface="Times New Roman"/>
              </a:defRPr>
            </a:pPr>
            <a:r>
              <a:t>-&gt;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23360" y="3557016"/>
            <a:ext cx="466344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F8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60520" y="3630168"/>
            <a:ext cx="44348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333333"/>
                </a:solidFill>
                <a:latin typeface="Times New Roman"/>
              </a:defRPr>
            </a:pPr>
            <a:r>
              <a:t>Two-stage lookahead ('just in' -&gt; 'Justin') + normalized Levenshtein distance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178808"/>
            <a:ext cx="3108960" cy="548640"/>
          </a:xfrm>
          <a:prstGeom prst="roundRect">
            <a:avLst/>
          </a:prstGeom>
          <a:solidFill>
            <a:srgbClr val="FDF2F2"/>
          </a:solidFill>
          <a:ln w="12700">
            <a:solidFill>
              <a:srgbClr val="BC3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270248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BC312C"/>
                </a:solidFill>
                <a:latin typeface="Times New Roman"/>
              </a:defRPr>
            </a:pPr>
            <a:r>
              <a:t>Ephemeral Meeting Discourse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11880" y="425196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666666"/>
                </a:solidFill>
                <a:latin typeface="Times New Roman"/>
              </a:defRPr>
            </a:pPr>
            <a:r>
              <a:t>-&gt;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23360" y="4178808"/>
            <a:ext cx="466344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F8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60520" y="4251960"/>
            <a:ext cx="44348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333333"/>
                </a:solidFill>
                <a:latin typeface="Times New Roman"/>
              </a:defRPr>
            </a:pPr>
            <a:r>
              <a:t>Lossless PCM audio serialization (debug_audio.wav) + Whisper-1 transcription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800600"/>
            <a:ext cx="3108960" cy="548640"/>
          </a:xfrm>
          <a:prstGeom prst="roundRect">
            <a:avLst/>
          </a:prstGeom>
          <a:solidFill>
            <a:srgbClr val="FDF2F2"/>
          </a:solidFill>
          <a:ln w="12700">
            <a:solidFill>
              <a:srgbClr val="BC3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89204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BC312C"/>
                </a:solidFill>
                <a:latin typeface="Times New Roman"/>
              </a:defRPr>
            </a:pPr>
            <a:r>
              <a:t>Unstructured Raw Transcripts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11880" y="4873752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666666"/>
                </a:solidFill>
                <a:latin typeface="Times New Roman"/>
              </a:defRPr>
            </a:pPr>
            <a:r>
              <a:t>-&gt;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023360" y="4800600"/>
            <a:ext cx="466344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F8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60520" y="4873752"/>
            <a:ext cx="44348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333333"/>
                </a:solidFill>
                <a:latin typeface="Times New Roman"/>
              </a:defRPr>
            </a:pPr>
            <a:r>
              <a:t>Hierarchical tripartite lecture note synthesis (Topic, Concepts, Definitions)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422392"/>
            <a:ext cx="3108960" cy="548640"/>
          </a:xfrm>
          <a:prstGeom prst="roundRect">
            <a:avLst/>
          </a:prstGeom>
          <a:solidFill>
            <a:srgbClr val="FDF2F2"/>
          </a:solidFill>
          <a:ln w="12700">
            <a:solidFill>
              <a:srgbClr val="BC3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5513832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BC312C"/>
                </a:solidFill>
                <a:latin typeface="Times New Roman"/>
              </a:defRPr>
            </a:pPr>
            <a:r>
              <a:t>Volatile Browser Web DOM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11880" y="5495544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666666"/>
                </a:solidFill>
                <a:latin typeface="Times New Roman"/>
              </a:defRPr>
            </a:pPr>
            <a:r>
              <a:t>-&gt;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023360" y="5422392"/>
            <a:ext cx="466344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F8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60520" y="5495544"/>
            <a:ext cx="44348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333333"/>
                </a:solidFill>
                <a:latin typeface="Times New Roman"/>
              </a:defRPr>
            </a:pPr>
            <a:r>
              <a:t>Multi-selector XPath fallback chains anchored to immutable accessibility tags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51560"/>
            <a:ext cx="77724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333333"/>
                </a:solidFill>
                <a:latin typeface="Times New Roman"/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6327648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>
                <a:solidFill>
                  <a:srgbClr val="666666"/>
                </a:solidFill>
                <a:latin typeface="Times New Roman"/>
              </a:defRPr>
            </a:pPr>
            <a:r>
              <a:t>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691640"/>
            <a:ext cx="832104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8229600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074920"/>
            <a:ext cx="82296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333333"/>
                </a:solidFill>
                <a:latin typeface="Times New Roman"/>
              </a:rPr>
              <a:t>Layers 1 &amp; 2 (Client &amp; Audio): </a:t>
            </a:r>
            <a:r>
              <a:rPr sz="1050" b="0">
                <a:solidFill>
                  <a:srgbClr val="333333"/>
                </a:solidFill>
                <a:latin typeface="Times New Roman"/>
              </a:rPr>
              <a:t>Selenium Chrome driver bypasses media prompts; VB-Audio Cable isolates 16 kHz mono stream; SciPy Butterworth bandpass filter suppresses noise.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333333"/>
                </a:solidFill>
                <a:latin typeface="Times New Roman"/>
              </a:rPr>
              <a:t>Layers 3 &amp; 4 (Perception &amp; Execution): </a:t>
            </a:r>
            <a:r>
              <a:rPr sz="1050" b="0">
                <a:solidFill>
                  <a:srgbClr val="333333"/>
                </a:solidFill>
                <a:latin typeface="Times New Roman"/>
              </a:rPr>
              <a:t>Offline VOSK Kaldi decodes speech locally on CPU; 50-word context deque buffers discourse; Levenshtein detector triggers GPT-4o-mini; Selenium types chat reply in &lt; 4s.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333333"/>
                </a:solidFill>
                <a:latin typeface="Times New Roman"/>
              </a:rPr>
              <a:t>Layer 5 (Knowledge Base Persistence): </a:t>
            </a:r>
            <a:r>
              <a:rPr sz="1050" b="0">
                <a:solidFill>
                  <a:srgbClr val="333333"/>
                </a:solidFill>
                <a:latin typeface="Times New Roman"/>
              </a:rPr>
              <a:t>Accumulates lossless PCM frames to debug_audio.wav; Whisper-1 transcribes full lecture; GPT-4o-mini formats study notes; Notion REST API publishes blocks to database.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51560"/>
            <a:ext cx="77724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333333"/>
                </a:solidFill>
                <a:latin typeface="Times New Roman"/>
              </a:defRPr>
            </a:pPr>
            <a:r>
              <a:t>Proposed Methodology: End-to-End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6327648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>
                <a:solidFill>
                  <a:srgbClr val="666666"/>
                </a:solidFill>
                <a:latin typeface="Times New Roman"/>
              </a:defRPr>
            </a:pPr>
            <a:r>
              <a:t>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737360"/>
            <a:ext cx="1261872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C3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1170432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BC312C"/>
                </a:solidFill>
                <a:latin typeface="Times New Roman"/>
              </a:defRPr>
            </a:pPr>
            <a:r>
              <a:t>1. Join Meet</a:t>
            </a:r>
          </a:p>
          <a:p>
            <a:pPr algn="ctr">
              <a:defRPr sz="900">
                <a:solidFill>
                  <a:srgbClr val="666666"/>
                </a:solidFill>
                <a:latin typeface="Times New Roman"/>
              </a:defRPr>
            </a:pPr>
            <a:r>
              <a:t>Selenium Chrome</a:t>
            </a:r>
            <a:br/>
            <a:r>
              <a:t>bypasses modals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47088" y="1737360"/>
            <a:ext cx="1261872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92808" y="1783080"/>
            <a:ext cx="1170432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2E5F8A"/>
                </a:solidFill>
                <a:latin typeface="Times New Roman"/>
              </a:defRPr>
            </a:pPr>
            <a:r>
              <a:t>2. Ingest Audio</a:t>
            </a:r>
          </a:p>
          <a:p>
            <a:pPr algn="ctr">
              <a:defRPr sz="900">
                <a:solidFill>
                  <a:srgbClr val="666666"/>
                </a:solidFill>
                <a:latin typeface="Times New Roman"/>
              </a:defRPr>
            </a:pPr>
            <a:r>
              <a:t>VB-Audio Cable</a:t>
            </a:r>
            <a:br/>
            <a:r>
              <a:t>16 kHz mono PCM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36976" y="1737360"/>
            <a:ext cx="1261872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82696" y="1783080"/>
            <a:ext cx="1170432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2E5F8A"/>
                </a:solidFill>
                <a:latin typeface="Times New Roman"/>
              </a:defRPr>
            </a:pPr>
            <a:r>
              <a:t>3. DSP Filter</a:t>
            </a:r>
          </a:p>
          <a:p>
            <a:pPr algn="ctr">
              <a:defRPr sz="900">
                <a:solidFill>
                  <a:srgbClr val="666666"/>
                </a:solidFill>
                <a:latin typeface="Times New Roman"/>
              </a:defRPr>
            </a:pPr>
            <a:r>
              <a:t>SciPy Butterworth</a:t>
            </a:r>
            <a:br/>
            <a:r>
              <a:t>300-3400 Hz band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26864" y="1737360"/>
            <a:ext cx="1261872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C3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72584" y="1783080"/>
            <a:ext cx="1170432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BC312C"/>
                </a:solidFill>
                <a:latin typeface="Times New Roman"/>
              </a:defRPr>
            </a:pPr>
            <a:r>
              <a:t>4. Offline ASR</a:t>
            </a:r>
          </a:p>
          <a:p>
            <a:pPr algn="ctr">
              <a:defRPr sz="900">
                <a:solidFill>
                  <a:srgbClr val="666666"/>
                </a:solidFill>
                <a:latin typeface="Times New Roman"/>
              </a:defRPr>
            </a:pPr>
            <a:r>
              <a:t>VOSK Kaldi WFST</a:t>
            </a:r>
            <a:br/>
            <a:r>
              <a:t>on host CPU (&lt;0.5s)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16752" y="1737360"/>
            <a:ext cx="1261872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62472" y="1783080"/>
            <a:ext cx="1170432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2E5F8A"/>
                </a:solidFill>
                <a:latin typeface="Times New Roman"/>
              </a:defRPr>
            </a:pPr>
            <a:r>
              <a:t>5. Trigger &amp; Q&amp;A</a:t>
            </a:r>
          </a:p>
          <a:p>
            <a:pPr algn="ctr">
              <a:defRPr sz="900">
                <a:solidFill>
                  <a:srgbClr val="666666"/>
                </a:solidFill>
                <a:latin typeface="Times New Roman"/>
              </a:defRPr>
            </a:pPr>
            <a:r>
              <a:t>Levenshtein sim + </a:t>
            </a:r>
            <a:br/>
            <a:r>
              <a:t>GPT-4o-mini reason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1737360"/>
            <a:ext cx="1261872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C3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52360" y="1783080"/>
            <a:ext cx="1170432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BC312C"/>
                </a:solidFill>
                <a:latin typeface="Times New Roman"/>
              </a:defRPr>
            </a:pPr>
            <a:r>
              <a:t>6. Post Notes</a:t>
            </a:r>
          </a:p>
          <a:p>
            <a:pPr algn="ctr">
              <a:defRPr sz="900">
                <a:solidFill>
                  <a:srgbClr val="666666"/>
                </a:solidFill>
                <a:latin typeface="Times New Roman"/>
              </a:defRPr>
            </a:pPr>
            <a:r>
              <a:t>Whisper transcript</a:t>
            </a:r>
            <a:br/>
            <a:r>
              <a:t>-&gt; Notion API sync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063240"/>
            <a:ext cx="3977639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C3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154680"/>
            <a:ext cx="370332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BC312C"/>
                </a:solidFill>
                <a:latin typeface="Times New Roman"/>
              </a:defRPr>
            </a:pPr>
            <a:r>
              <a:t>Real-Time In-Call Turn-Taking Loop (&lt; 3.5s)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333333"/>
                </a:solidFill>
                <a:latin typeface="Times New Roman"/>
              </a:rPr>
              <a:t>Audio Ingestion:  </a:t>
            </a:r>
            <a:r>
              <a:rPr sz="1000" b="0">
                <a:solidFill>
                  <a:srgbClr val="333333"/>
                </a:solidFill>
                <a:latin typeface="Times New Roman"/>
              </a:rPr>
              <a:t>PyAudio streams non-blocking 4,000-byte chunks (125ms) into conditioned deque.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333333"/>
                </a:solidFill>
                <a:latin typeface="Times New Roman"/>
              </a:rPr>
              <a:t>Local Decoding:  </a:t>
            </a:r>
            <a:r>
              <a:rPr sz="1000" b="0">
                <a:solidFill>
                  <a:srgbClr val="333333"/>
                </a:solidFill>
                <a:latin typeface="Times New Roman"/>
              </a:rPr>
              <a:t>VOSK processes 96,000-byte buffers (3.0s) in sub-500ms without cloud latency.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333333"/>
                </a:solidFill>
                <a:latin typeface="Times New Roman"/>
              </a:rPr>
              <a:t>Discourse Ring Buffer:  </a:t>
            </a:r>
            <a:r>
              <a:rPr sz="1000" b="0">
                <a:solidFill>
                  <a:srgbClr val="333333"/>
                </a:solidFill>
                <a:latin typeface="Times New Roman"/>
              </a:rPr>
              <a:t>Rolling 50-word deque dynamically extracts recent 15-word active context.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333333"/>
                </a:solidFill>
                <a:latin typeface="Times New Roman"/>
              </a:rPr>
              <a:t>Trigger &amp; Reasoning:  </a:t>
            </a:r>
            <a:r>
              <a:rPr sz="1000" b="0">
                <a:solidFill>
                  <a:srgbClr val="333333"/>
                </a:solidFill>
                <a:latin typeface="Times New Roman"/>
              </a:rPr>
              <a:t>Levenshtein check (Sim &gt;= 0.80) fires GPT-4o-mini; Selenium types reply in Meet chat.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09160" y="3063240"/>
            <a:ext cx="3977639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0" y="3154680"/>
            <a:ext cx="370332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2E5F8A"/>
                </a:solidFill>
                <a:latin typeface="Times New Roman"/>
              </a:defRPr>
            </a:pPr>
            <a:r>
              <a:t>Post-Session Synthesis &amp; Notion Sync Loop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333333"/>
                </a:solidFill>
                <a:latin typeface="Times New Roman"/>
              </a:rPr>
              <a:t>Lossless WAV Dump:  </a:t>
            </a:r>
            <a:r>
              <a:rPr sz="1000" b="0">
                <a:solidFill>
                  <a:srgbClr val="333333"/>
                </a:solidFill>
                <a:latin typeface="Times New Roman"/>
              </a:rPr>
              <a:t>Master bytearray serializes cleanly to 16 kHz 16-bit mono debug_audio.wav.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333333"/>
                </a:solidFill>
                <a:latin typeface="Times New Roman"/>
              </a:rPr>
              <a:t>Whisper Transcription:  </a:t>
            </a:r>
            <a:r>
              <a:rPr sz="1000" b="0">
                <a:solidFill>
                  <a:srgbClr val="333333"/>
                </a:solidFill>
                <a:latin typeface="Times New Roman"/>
              </a:rPr>
              <a:t>OpenAI Whisper-1 API outputs timestamped master transcript with jargon accuracy.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333333"/>
                </a:solidFill>
                <a:latin typeface="Times New Roman"/>
              </a:rPr>
              <a:t>Hierarchical Notes:  </a:t>
            </a:r>
            <a:r>
              <a:rPr sz="1000" b="0">
                <a:solidFill>
                  <a:srgbClr val="333333"/>
                </a:solidFill>
                <a:latin typeface="Times New Roman"/>
              </a:rPr>
              <a:t>GPT-4o-mini transforms text into structured outline (# Topic, ## Concepts, Definitions).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333333"/>
                </a:solidFill>
                <a:latin typeface="Times New Roman"/>
              </a:rPr>
              <a:t>Notion Schema Adapter:  </a:t>
            </a:r>
            <a:r>
              <a:rPr sz="1000" b="0">
                <a:solidFill>
                  <a:srgbClr val="333333"/>
                </a:solidFill>
                <a:latin typeface="Times New Roman"/>
              </a:rPr>
              <a:t>Notion SDK maps markdown into blocks and creates page in student database.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51560"/>
            <a:ext cx="77724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333333"/>
                </a:solidFill>
                <a:latin typeface="Times New Roman"/>
              </a:defRPr>
            </a:pPr>
            <a:r>
              <a:t>Module 1: Audio Capture, Loopback &amp; DSP Conditioning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6327648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>
                <a:solidFill>
                  <a:srgbClr val="666666"/>
                </a:solidFill>
                <a:latin typeface="Times New Roman"/>
              </a:defRPr>
            </a:pPr>
            <a:r>
              <a:t>10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737360"/>
          <a:ext cx="47548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097280"/>
                <a:gridCol w="2011680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Parameter Name</a:t>
                      </a:r>
                    </a:p>
                  </a:txBody>
                  <a:tcPr>
                    <a:solidFill>
                      <a:srgbClr val="BC31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BC31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Engineering Purpose</a:t>
                      </a:r>
                    </a:p>
                  </a:txBody>
                  <a:tcPr>
                    <a:solidFill>
                      <a:srgbClr val="BC312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Sampling Rate (R)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16,000 Hz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Standard Nyquist rate capturing human speech up to 8 kHz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Channel Count (C)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1 (Mono)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Single-channel mono stream required by Kaldi acoustic model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Bit Depth (Sb)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16 Bits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Provides 96 dB dynamic range representing amplitude accurately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Chunk Read Size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4,000 Bytes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125 ms non-blocking I/O read ensuring real-time streaming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Buffer Threshold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96,000 Bytes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Accumulates exactly 3.0s audio before feeding VOSK engine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394960" y="1737360"/>
            <a:ext cx="329184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C3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32120" y="1828800"/>
            <a:ext cx="301752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250" b="1">
                <a:solidFill>
                  <a:srgbClr val="BC312C"/>
                </a:solidFill>
                <a:latin typeface="Times New Roman"/>
              </a:defRPr>
            </a:pPr>
            <a:r>
              <a:t>Unidirectional VB-Cable Loopback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33333"/>
                </a:solidFill>
                <a:latin typeface="Times New Roman"/>
              </a:rPr>
              <a:t>Echo Elimination:  </a:t>
            </a:r>
            <a:r>
              <a:rPr sz="950" b="0">
                <a:solidFill>
                  <a:srgbClr val="333333"/>
                </a:solidFill>
                <a:latin typeface="Times New Roman"/>
              </a:rPr>
              <a:t>Standard Windows 'Stereo Mix' leaked speaker audio back into microphone, causing infinite reverb and double tokens ('Justin Justin').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333333"/>
                </a:solidFill>
                <a:latin typeface="Times New Roman"/>
              </a:rPr>
              <a:t>Virtual Bridge:  </a:t>
            </a:r>
            <a:r>
              <a:rPr sz="950" b="0">
                <a:solidFill>
                  <a:srgbClr val="333333"/>
                </a:solidFill>
                <a:latin typeface="Times New Roman"/>
              </a:rPr>
              <a:t>VB-Audio Cable creates an isolated, one-way conduit directly from Google Meet to PyAudio.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94960" y="3886200"/>
            <a:ext cx="329184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32120" y="3977639"/>
            <a:ext cx="301752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250" b="1">
                <a:solidFill>
                  <a:srgbClr val="2E5F8A"/>
                </a:solidFill>
                <a:latin typeface="Times New Roman"/>
              </a:defRPr>
            </a:pPr>
            <a:r>
              <a:t>SciPy 4th-Order Butterworth Filter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33333"/>
                </a:solidFill>
                <a:latin typeface="Times New Roman"/>
              </a:rPr>
              <a:t>Speech Formant Band:  </a:t>
            </a:r>
            <a:r>
              <a:rPr sz="950" b="0">
                <a:solidFill>
                  <a:srgbClr val="333333"/>
                </a:solidFill>
                <a:latin typeface="Times New Roman"/>
              </a:rPr>
              <a:t>Digital bandpass coefficients (b, a) configured with cutoffs at 300 Hz and 3,400 Hz.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333333"/>
                </a:solidFill>
                <a:latin typeface="Times New Roman"/>
              </a:rPr>
              <a:t>Noise Suppression:  </a:t>
            </a:r>
            <a:r>
              <a:rPr sz="950" b="0">
                <a:solidFill>
                  <a:srgbClr val="333333"/>
                </a:solidFill>
                <a:latin typeface="Times New Roman"/>
              </a:rPr>
              <a:t>Filters out 50/60 Hz electrical mains hum and high-frequency hiss, boosting VOSK decoding confidence.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51560"/>
            <a:ext cx="77724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333333"/>
                </a:solidFill>
                <a:latin typeface="Times New Roman"/>
              </a:defRPr>
            </a:pPr>
            <a:r>
              <a:t>Module 2: Offline ASR &amp; Sliding Context Deque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6327648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>
                <a:solidFill>
                  <a:srgbClr val="666666"/>
                </a:solidFill>
                <a:latin typeface="Times New Roman"/>
              </a:defRPr>
            </a:pPr>
            <a:r>
              <a:t>11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737360"/>
            <a:ext cx="3977639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C3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36118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BC312C"/>
                </a:solidFill>
                <a:latin typeface="Times New Roman"/>
              </a:defRPr>
            </a:pPr>
            <a:r>
              <a:t>VOSK Kaldi Offline Acoustic Engine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333333"/>
                </a:solidFill>
                <a:latin typeface="Times New Roman"/>
              </a:rPr>
              <a:t>Acoustic Topology:  </a:t>
            </a:r>
            <a:r>
              <a:rPr sz="1000" b="0">
                <a:solidFill>
                  <a:srgbClr val="333333"/>
                </a:solidFill>
                <a:latin typeface="Times New Roman"/>
              </a:rPr>
              <a:t>Factorized Time-Delay Neural Network (F-TDNN) with 40-dimensional MFCCs and pitch feature extraction.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333333"/>
                </a:solidFill>
                <a:latin typeface="Times New Roman"/>
              </a:rPr>
              <a:t>WFST Dynamic Decoding:  </a:t>
            </a:r>
            <a:r>
              <a:rPr sz="1000" b="0">
                <a:solidFill>
                  <a:srgbClr val="333333"/>
                </a:solidFill>
                <a:latin typeface="Times New Roman"/>
              </a:rPr>
              <a:t>Kaldi Online2 Weighted Finite-State Transducer search graph covering ~128,000 English vocabulary words.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333333"/>
                </a:solidFill>
                <a:latin typeface="Times New Roman"/>
              </a:rPr>
              <a:t>100% Local CPU Execution:  </a:t>
            </a:r>
            <a:r>
              <a:rPr sz="1000" b="0">
                <a:solidFill>
                  <a:srgbClr val="333333"/>
                </a:solidFill>
                <a:latin typeface="Times New Roman"/>
              </a:rPr>
              <a:t>Average decoding latency is 350–480 ms on standard quad-core Intel i5 (RTF &lt; 0.25). Zero cloud API reliance.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333333"/>
                </a:solidFill>
                <a:latin typeface="Times New Roman"/>
              </a:rPr>
              <a:t>Confidence Scored Tokens:  </a:t>
            </a:r>
            <a:r>
              <a:rPr sz="1000" b="0">
                <a:solidFill>
                  <a:srgbClr val="333333"/>
                </a:solidFill>
                <a:latin typeface="Times New Roman"/>
              </a:rPr>
              <a:t>Outputs finalized JSON containing token-level acoustic probabilities for trigger verification.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09160" y="1737360"/>
            <a:ext cx="3977639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92040" y="1874519"/>
            <a:ext cx="36118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2E5F8A"/>
                </a:solidFill>
                <a:latin typeface="Times New Roman"/>
              </a:defRPr>
            </a:pPr>
            <a:r>
              <a:t>Sliding Context Window Management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333333"/>
                </a:solidFill>
                <a:latin typeface="Times New Roman"/>
              </a:rPr>
              <a:t>In-Memory Ring Buffer:  </a:t>
            </a:r>
            <a:r>
              <a:rPr sz="1000" b="0">
                <a:solidFill>
                  <a:srgbClr val="333333"/>
                </a:solidFill>
                <a:latin typeface="Times New Roman"/>
              </a:rPr>
              <a:t>Python collections.deque(maxlen=50) maintains a continuous rolling history of the last 50 transcribed lecture words.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333333"/>
                </a:solidFill>
                <a:latin typeface="Times New Roman"/>
              </a:rPr>
              <a:t>Discourse Preservation:  </a:t>
            </a:r>
            <a:r>
              <a:rPr sz="1000" b="0">
                <a:solidFill>
                  <a:srgbClr val="333333"/>
                </a:solidFill>
                <a:latin typeface="Times New Roman"/>
              </a:rPr>
              <a:t>Automatically purges stale speech as new words arrive, retaining complete teacher sentence context without RAM bloat.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333333"/>
                </a:solidFill>
                <a:latin typeface="Times New Roman"/>
              </a:rPr>
              <a:t>Dynamic Slice Extraction:  </a:t>
            </a:r>
            <a:r>
              <a:rPr sz="1000" b="0">
                <a:solidFill>
                  <a:srgbClr val="333333"/>
                </a:solidFill>
                <a:latin typeface="Times New Roman"/>
              </a:rPr>
              <a:t>Upon verified trigger detection, isolates the most recent 15–20 words to ground prompt construction.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333333"/>
                </a:solidFill>
                <a:latin typeface="Times New Roman"/>
              </a:rPr>
              <a:t>Hallucination Defense:  </a:t>
            </a:r>
            <a:r>
              <a:rPr sz="1000" b="0">
                <a:solidFill>
                  <a:srgbClr val="333333"/>
                </a:solidFill>
                <a:latin typeface="Times New Roman"/>
              </a:rPr>
              <a:t>Grounding LLM reasoning strictly in the extracted discourse prevents generic, unanchored hallucinations.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51560"/>
            <a:ext cx="77724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333333"/>
                </a:solidFill>
                <a:latin typeface="Times New Roman"/>
              </a:defRPr>
            </a:pPr>
            <a:r>
              <a:t>Module 3: Fuzzy Phonetic Trigger &amp; Intent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6327648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>
                <a:solidFill>
                  <a:srgbClr val="666666"/>
                </a:solidFill>
                <a:latin typeface="Times New Roman"/>
              </a:defRPr>
            </a:pPr>
            <a:r>
              <a:t>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737360"/>
            <a:ext cx="3977639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C3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36118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BC312C"/>
                </a:solidFill>
                <a:latin typeface="Times New Roman"/>
              </a:defRPr>
            </a:pPr>
            <a:r>
              <a:t>Multi-Tier Trigger Detection Mechanism</a:t>
            </a:r>
          </a:p>
          <a:p>
            <a:pPr>
              <a:spcAft>
                <a:spcPts val="500"/>
              </a:spcAft>
            </a:pPr>
            <a:r>
              <a:rPr sz="1000" b="1">
                <a:solidFill>
                  <a:srgbClr val="333333"/>
                </a:solidFill>
                <a:latin typeface="Times New Roman"/>
              </a:rPr>
              <a:t>Acoustic Confidence Gating:  </a:t>
            </a:r>
            <a:r>
              <a:rPr sz="1000" b="0">
                <a:solidFill>
                  <a:srgbClr val="333333"/>
                </a:solidFill>
                <a:latin typeface="Times New Roman"/>
              </a:rPr>
              <a:t>Rejects all tokens with confidence score &lt; 0.70 to eliminate background chatter and acoustic hallucinations.</a:t>
            </a:r>
          </a:p>
          <a:p>
            <a:pPr>
              <a:spcAft>
                <a:spcPts val="500"/>
              </a:spcAft>
            </a:pPr>
            <a:r>
              <a:rPr sz="1000" b="1">
                <a:solidFill>
                  <a:srgbClr val="333333"/>
                </a:solidFill>
                <a:latin typeface="Times New Roman"/>
              </a:rPr>
              <a:t>Normalized Levenshtein Metric:  </a:t>
            </a:r>
            <a:r>
              <a:rPr sz="1000" b="0">
                <a:solidFill>
                  <a:srgbClr val="333333"/>
                </a:solidFill>
                <a:latin typeface="Times New Roman"/>
              </a:rPr>
              <a:t>Computes Sim(w_i, S_name) = 1 - (Lev(w_i, S_name) / max(len(w_i), len(S_name))). Threshold &gt;= 0.80.</a:t>
            </a:r>
          </a:p>
          <a:p>
            <a:pPr>
              <a:spcAft>
                <a:spcPts val="500"/>
              </a:spcAft>
            </a:pPr>
            <a:r>
              <a:rPr sz="1000" b="1">
                <a:solidFill>
                  <a:srgbClr val="333333"/>
                </a:solidFill>
                <a:latin typeface="Times New Roman"/>
              </a:rPr>
              <a:t>Compound Token Lookahead:  </a:t>
            </a:r>
            <a:r>
              <a:rPr sz="1000" b="0">
                <a:solidFill>
                  <a:srgbClr val="333333"/>
                </a:solidFill>
                <a:latin typeface="Times New Roman"/>
              </a:rPr>
              <a:t>VOSK frequently splits 'Justin' into two tokens: 'just' + 'in'. The lookahead buffer inspects w_i == 'just' and w_{i+1} == 'in'.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333333"/>
                </a:solidFill>
                <a:latin typeface="Times New Roman"/>
              </a:rPr>
              <a:t>Empirical Validation:  </a:t>
            </a:r>
            <a:r>
              <a:rPr sz="1000" b="0">
                <a:solidFill>
                  <a:srgbClr val="333333"/>
                </a:solidFill>
                <a:latin typeface="Times New Roman"/>
              </a:rPr>
              <a:t>Compound lookahead raised cold-call detection from 60% to 100% in controlled classroom trials.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09160" y="1737360"/>
            <a:ext cx="3977639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F8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92040" y="1874519"/>
            <a:ext cx="36118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F8F5C"/>
                </a:solidFill>
                <a:latin typeface="Times New Roman"/>
              </a:defRPr>
            </a:pPr>
            <a:r>
              <a:t>Intent Classification &amp; Response Synthesis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333333"/>
                </a:solidFill>
                <a:latin typeface="Times New Roman"/>
              </a:rPr>
              <a:t>Intent Branch 1: Oral Attendance:  </a:t>
            </a:r>
            <a:r>
              <a:rPr sz="1000" b="0">
                <a:solidFill>
                  <a:srgbClr val="333333"/>
                </a:solidFill>
                <a:latin typeface="Times New Roman"/>
              </a:rPr>
              <a:t>If context contains roll-call indicators ('present', 'attendance', roll number), immediately outputs: 'Present, Professor. I am attending online.'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333333"/>
                </a:solidFill>
                <a:latin typeface="Times New Roman"/>
              </a:rPr>
              <a:t>Intent Branch 2: Technical Question:  </a:t>
            </a:r>
            <a:r>
              <a:rPr sz="1000" b="0">
                <a:solidFill>
                  <a:srgbClr val="333333"/>
                </a:solidFill>
                <a:latin typeface="Times New Roman"/>
              </a:rPr>
              <a:t>If question words detected ('how', 'why', 'what', 'explain'), builds bounded prompt for GPT-4o-mini with the extracted 15-word lecture slice.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333333"/>
                </a:solidFill>
                <a:latin typeface="Times New Roman"/>
              </a:rPr>
              <a:t>Concise Prompt Constraints:  </a:t>
            </a:r>
            <a:r>
              <a:rPr sz="1000" b="0">
                <a:solidFill>
                  <a:srgbClr val="333333"/>
                </a:solidFill>
                <a:latin typeface="Times New Roman"/>
              </a:rPr>
              <a:t>System prompt enforces: 'Provide a direct, technically accurate 2-sentence response grounded strictly in the lecture context.'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333333"/>
                </a:solidFill>
                <a:latin typeface="Times New Roman"/>
              </a:rPr>
              <a:t>Sub-2s Cloud Inference:  </a:t>
            </a:r>
            <a:r>
              <a:rPr sz="1000" b="0">
                <a:solidFill>
                  <a:srgbClr val="333333"/>
                </a:solidFill>
                <a:latin typeface="Times New Roman"/>
              </a:rPr>
              <a:t>GPT-4o-mini returns answer in 1.85s–2.65s, within natural conversation turn-taking limits.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51560"/>
            <a:ext cx="77724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333333"/>
                </a:solidFill>
                <a:latin typeface="Times New Roman"/>
              </a:defRPr>
            </a:pPr>
            <a:r>
              <a:t>Module 4: Browser Automation &amp; In-Call Chat 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6327648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>
                <a:solidFill>
                  <a:srgbClr val="666666"/>
                </a:solidFill>
                <a:latin typeface="Times New Roman"/>
              </a:defRPr>
            </a:pPr>
            <a:r>
              <a:t>13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737360"/>
            <a:ext cx="3977639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36118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2E5F8A"/>
                </a:solidFill>
                <a:latin typeface="Times New Roman"/>
              </a:defRPr>
            </a:pPr>
            <a:r>
              <a:t>Google Meet DOM Mutation Resilience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333333"/>
                </a:solidFill>
                <a:latin typeface="Times New Roman"/>
              </a:rPr>
              <a:t>Obfuscated Class Names:  </a:t>
            </a:r>
            <a:r>
              <a:rPr sz="1000" b="0">
                <a:solidFill>
                  <a:srgbClr val="333333"/>
                </a:solidFill>
                <a:latin typeface="Times New Roman"/>
              </a:rPr>
              <a:t>Google's CI/CD dynamically obfuscates CSS class names, causing standard static Selenium XPath scripts to fail.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333333"/>
                </a:solidFill>
                <a:latin typeface="Times New Roman"/>
              </a:rPr>
              <a:t>Accessibility Attribute Anchoring:  </a:t>
            </a:r>
            <a:r>
              <a:rPr sz="1000" b="0">
                <a:solidFill>
                  <a:srgbClr val="333333"/>
                </a:solidFill>
                <a:latin typeface="Times New Roman"/>
              </a:rPr>
              <a:t>Automation anchors exclusively to immutable accessibility tags: @aria-label, @aria-pressed, and role='button'.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333333"/>
                </a:solidFill>
                <a:latin typeface="Times New Roman"/>
              </a:rPr>
              <a:t>Multi-Selector Fallback Chains:  </a:t>
            </a:r>
            <a:r>
              <a:rPr sz="1000" b="0">
                <a:solidFill>
                  <a:srgbClr val="333333"/>
                </a:solidFill>
                <a:latin typeface="Times New Roman"/>
              </a:rPr>
              <a:t>Hierarchical fallback selectors guarantee button discovery even if interface layouts shift between updates.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333333"/>
                </a:solidFill>
                <a:latin typeface="Times New Roman"/>
              </a:rPr>
              <a:t>Dynamic WebDriverWait Polling:  </a:t>
            </a:r>
            <a:r>
              <a:rPr sz="1000" b="0">
                <a:solidFill>
                  <a:srgbClr val="333333"/>
                </a:solidFill>
                <a:latin typeface="Times New Roman"/>
              </a:rPr>
              <a:t>Explicit polling waits (up to 5s) ensure elements are interactable before dispatching actions.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09160" y="1737360"/>
            <a:ext cx="3977639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8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92040" y="1874519"/>
            <a:ext cx="36118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C98A2C"/>
                </a:solidFill>
                <a:latin typeface="Times New Roman"/>
              </a:defRPr>
            </a:pPr>
            <a:r>
              <a:t>In-Call Chat Injection Architecture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333333"/>
                </a:solidFill>
                <a:latin typeface="Times New Roman"/>
              </a:rPr>
              <a:t>Chat Sidebar Detection:  </a:t>
            </a:r>
            <a:r>
              <a:rPr sz="1000" b="0">
                <a:solidFill>
                  <a:srgbClr val="333333"/>
                </a:solidFill>
                <a:latin typeface="Times New Roman"/>
              </a:rPr>
              <a:t>Inspects DOM for //div[@aria-label='Chat with everyone']. If closed, locates toggle button and clicks.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333333"/>
                </a:solidFill>
                <a:latin typeface="Times New Roman"/>
              </a:rPr>
              <a:t>Target Input Location:  </a:t>
            </a:r>
            <a:r>
              <a:rPr sz="1000" b="0">
                <a:solidFill>
                  <a:srgbClr val="333333"/>
                </a:solidFill>
                <a:latin typeface="Times New Roman"/>
              </a:rPr>
              <a:t>Finds chat textarea via //textarea[@aria-label='Send a message to everyone'].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333333"/>
                </a:solidFill>
                <a:latin typeface="Times New Roman"/>
              </a:rPr>
              <a:t>Simulated Keystroke Dispatch:  </a:t>
            </a:r>
            <a:r>
              <a:rPr sz="1000" b="0">
                <a:solidFill>
                  <a:srgbClr val="333333"/>
                </a:solidFill>
                <a:latin typeface="Times New Roman"/>
              </a:rPr>
              <a:t>Clears field, injects synthesized text via send_keys, and dispatches Keys.RETURN.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333333"/>
                </a:solidFill>
                <a:latin typeface="Times New Roman"/>
              </a:rPr>
              <a:t>Rapid Injection Timing:  </a:t>
            </a:r>
            <a:r>
              <a:rPr sz="1000" b="0">
                <a:solidFill>
                  <a:srgbClr val="333333"/>
                </a:solidFill>
                <a:latin typeface="Times New Roman"/>
              </a:rPr>
              <a:t>DOM discovery and text submission executes in 650–920 ms, keeping total end-to-end response under 4.0s.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51560"/>
            <a:ext cx="77724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333333"/>
                </a:solidFill>
                <a:latin typeface="Times New Roman"/>
              </a:defRPr>
            </a:pPr>
            <a:r>
              <a:t>Module 5: Post-Session Synthesis &amp; Notion Knowledge 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6327648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>
                <a:solidFill>
                  <a:srgbClr val="666666"/>
                </a:solidFill>
                <a:latin typeface="Times New Roman"/>
              </a:defRPr>
            </a:pPr>
            <a:r>
              <a:t>14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737360"/>
            <a:ext cx="402336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C3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74520"/>
            <a:ext cx="365760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BC312C"/>
                </a:solidFill>
                <a:latin typeface="Times New Roman"/>
              </a:defRPr>
            </a:pPr>
            <a:r>
              <a:t>Lossless WAV Serialization</a:t>
            </a:r>
          </a:p>
          <a:p>
            <a:pPr>
              <a:defRPr sz="1000">
                <a:solidFill>
                  <a:srgbClr val="333333"/>
                </a:solidFill>
                <a:latin typeface="Times New Roman"/>
              </a:defRPr>
            </a:pPr>
            <a:r>
              <a:t>Throughout the lecture, PyAudio appends all raw 16 kHz 16-bit mono PCM chunks into an in-memory bytearray buffer.</a:t>
            </a:r>
            <a:br/>
            <a:br/>
            <a:r>
              <a:t>Upon session exit signal, the writer configures standard WAV headers and serializes debug_audio.wav to disk without data loss.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1737360"/>
            <a:ext cx="402336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0" y="1874520"/>
            <a:ext cx="365760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2E5F8A"/>
                </a:solidFill>
                <a:latin typeface="Times New Roman"/>
              </a:defRPr>
            </a:pPr>
            <a:r>
              <a:t>Whisper-1 Master Transcription</a:t>
            </a:r>
          </a:p>
          <a:p>
            <a:pPr>
              <a:defRPr sz="1000">
                <a:solidFill>
                  <a:srgbClr val="333333"/>
                </a:solidFill>
                <a:latin typeface="Times New Roman"/>
              </a:defRPr>
            </a:pPr>
            <a:r>
              <a:t>The serialized audio is submitted to OpenAI's Whisper-1 API.</a:t>
            </a:r>
            <a:br/>
            <a:br/>
            <a:r>
              <a:t>Generates a verbatim, punctuation-accurate master transcript with high fidelity on complex technical terminology and multi-speaker exchanges.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931920"/>
            <a:ext cx="402336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8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069080"/>
            <a:ext cx="365760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C98A2C"/>
                </a:solidFill>
                <a:latin typeface="Times New Roman"/>
              </a:defRPr>
            </a:pPr>
            <a:r>
              <a:t>Hierarchical Study Note Synthesis</a:t>
            </a:r>
          </a:p>
          <a:p>
            <a:pPr>
              <a:defRPr sz="1000">
                <a:solidFill>
                  <a:srgbClr val="333333"/>
                </a:solidFill>
                <a:latin typeface="Times New Roman"/>
              </a:defRPr>
            </a:pPr>
            <a:r>
              <a:t>GPT-4o-mini is prompted with a structured academic schema to transform raw speech disfluencies into concise study material:</a:t>
            </a:r>
            <a:br/>
            <a:r>
              <a:t># Lecture Topic</a:t>
            </a:r>
            <a:br/>
            <a:r>
              <a:t>## Key Concepts &amp; Principles</a:t>
            </a:r>
            <a:br/>
            <a:r>
              <a:t>* Bulleted definitions &amp; formulas</a:t>
            </a:r>
            <a:br/>
            <a:r>
              <a:t>### Executive Summary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3931920"/>
            <a:ext cx="402336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F8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4069080"/>
            <a:ext cx="365760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F8F5C"/>
                </a:solidFill>
                <a:latin typeface="Times New Roman"/>
              </a:defRPr>
            </a:pPr>
            <a:r>
              <a:t>Notion REST API Schema Adapter</a:t>
            </a:r>
          </a:p>
          <a:p>
            <a:pPr>
              <a:defRPr sz="1000">
                <a:solidFill>
                  <a:srgbClr val="333333"/>
                </a:solidFill>
                <a:latin typeface="Times New Roman"/>
              </a:defRPr>
            </a:pPr>
            <a:r>
              <a:t>Custom parser maps markdown syntax line-by-line into official Notion block objects (heading_1, heading_2, bulleted_list_item, callout).</a:t>
            </a:r>
            <a:br/>
            <a:br/>
            <a:r>
              <a:t>Notion-Client SDK issues client.pages.create() to publish a clean, searchable page into the student's Notion database.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51560"/>
            <a:ext cx="77724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333333"/>
                </a:solidFill>
                <a:latin typeface="Times New Roman"/>
              </a:defRPr>
            </a:pPr>
            <a:r>
              <a:t>Tools, Technologies, Software and Hardware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6327648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>
                <a:solidFill>
                  <a:srgbClr val="666666"/>
                </a:solidFill>
                <a:latin typeface="Times New Roman"/>
              </a:defRPr>
            </a:pPr>
            <a:r>
              <a:t>15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91640"/>
          <a:ext cx="82296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5943600"/>
              </a:tblGrid>
              <a:tr h="448056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BC31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Technologies &amp; Specifications</a:t>
                      </a:r>
                    </a:p>
                  </a:txBody>
                  <a:tcPr>
                    <a:solidFill>
                      <a:srgbClr val="BC312C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Client Automation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Selenium WebDriver 4.49.0, Google Chrome (Headful / Headless)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Audio Routing &amp; Capture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VB-Audio Cable v1.0.3.8, PyAudio 0.2.14, SoundDevice 0.5.5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Digital Signal Processing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SciPy 1.17.0 (Butterworth bandpass filter), NumPy 2.3.5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Local Offline STT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VOSK 0.3.45 + Kaldi WFST acoustic decoder (vosk-model-small-en-us-0.15)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Frontier Cloud 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OpenAI GPT-4o-mini (chat reasoning), OpenAI Whisper-1 (batch transcription)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Knowledge Persistence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Notion REST API, Notion-Client SDK 3.1.0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Internal State Broker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Python 3.12+, Flask 3.1.3, Flask-CORS 6.0.5 (localhost:5000)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Testing &amp; Verification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pytest, Boundary Value Analysis (BVA), Equivalence Partitioning (EPP)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Hardware Environment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Quad-Core Intel i5 / Ryzen 5, 8 GB DDR4 RAM, Realtek HD Audio, Zero GPU Required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51560"/>
            <a:ext cx="77724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333333"/>
                </a:solidFill>
                <a:latin typeface="Times New Roman"/>
              </a:defRPr>
            </a:pPr>
            <a:r>
              <a:t>Database Design and REST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6327648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>
                <a:solidFill>
                  <a:srgbClr val="666666"/>
                </a:solidFill>
                <a:latin typeface="Times New Roman"/>
              </a:defRPr>
            </a:pPr>
            <a:r>
              <a:t>16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691640"/>
            <a:ext cx="40690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3977639" cy="420624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663440" y="1691640"/>
          <a:ext cx="402336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194560"/>
              </a:tblGrid>
              <a:tr h="4419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Endpoint / Method</a:t>
                      </a:r>
                    </a:p>
                  </a:txBody>
                  <a:tcPr>
                    <a:solidFill>
                      <a:srgbClr val="BC31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Operational Purpose</a:t>
                      </a:r>
                    </a:p>
                  </a:txBody>
                  <a:tcPr>
                    <a:solidFill>
                      <a:srgbClr val="BC312C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POST /api/session/start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Spawns Chrome &amp; initializes audio loopback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GET /api/session/status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Health monitoring of PyAudio &amp; VOSK threads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POST /api/session/stop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Terminates session &amp; triggers post-processing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POST /api/chat/inject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Direct chat injection fallback endpoint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POST /api/notion/sync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Exports parsed markdown blocks to Notion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663440" y="4480560"/>
            <a:ext cx="4023360" cy="150876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00600" y="4572000"/>
            <a:ext cx="3749039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33333"/>
                </a:solidFill>
                <a:latin typeface="Times New Roman"/>
              </a:defRPr>
            </a:pPr>
            <a:r>
              <a:t>Relational Domain Schema Architecture: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33333"/>
                </a:solidFill>
                <a:latin typeface="Times New Roman"/>
              </a:rPr>
              <a:t>Domain Entities:  </a:t>
            </a:r>
            <a:r>
              <a:rPr sz="950" b="0">
                <a:solidFill>
                  <a:srgbClr val="333333"/>
                </a:solidFill>
                <a:latin typeface="Times New Roman"/>
              </a:rPr>
              <a:t>User (1:N) ClassSession (1:1) AudioRecording (1:N) TranscriptChunk -&gt; FullTranscript (1:1) LectureNote -&gt; NotionExport.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333333"/>
                </a:solidFill>
                <a:latin typeface="Times New Roman"/>
              </a:rPr>
              <a:t>Decoupled Singleton Services:  </a:t>
            </a:r>
            <a:r>
              <a:rPr sz="950" b="0">
                <a:solidFill>
                  <a:srgbClr val="333333"/>
                </a:solidFill>
                <a:latin typeface="Times New Roman"/>
              </a:rPr>
              <a:t>Clean isolation between state entities and service orchestrators (SeleniumMeetService, VoskSpeechService, OpenAIService, NotionIntegrationService).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51560"/>
            <a:ext cx="77724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333333"/>
                </a:solidFill>
                <a:latin typeface="Times New Roman"/>
              </a:defRPr>
            </a:pPr>
            <a:r>
              <a:t>Implementation: Application Screens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6327648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>
                <a:solidFill>
                  <a:srgbClr val="666666"/>
                </a:solidFill>
                <a:latin typeface="Times New Roman"/>
              </a:defRPr>
            </a:pPr>
            <a:r>
              <a:t>17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691640"/>
            <a:ext cx="832104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8229600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074920"/>
            <a:ext cx="82296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050" b="1">
                <a:solidFill>
                  <a:srgbClr val="333333"/>
                </a:solidFill>
                <a:latin typeface="Times New Roman"/>
              </a:rPr>
              <a:t>1. Active Session Monitor:  </a:t>
            </a:r>
            <a:r>
              <a:rPr sz="1050" b="0">
                <a:solidFill>
                  <a:srgbClr val="333333"/>
                </a:solidFill>
                <a:latin typeface="Times New Roman"/>
              </a:rPr>
              <a:t>Continuous session timer (00:48:12) with real-time audio loopback health diagnostic.</a:t>
            </a:r>
          </a:p>
          <a:p>
            <a:pPr>
              <a:spcAft>
                <a:spcPts val="300"/>
              </a:spcAft>
            </a:pPr>
            <a:r>
              <a:rPr sz="1050" b="1">
                <a:solidFill>
                  <a:srgbClr val="333333"/>
                </a:solidFill>
                <a:latin typeface="Times New Roman"/>
              </a:rPr>
              <a:t>2. Real-Time Speech-to-Text:  </a:t>
            </a:r>
            <a:r>
              <a:rPr sz="1050" b="0">
                <a:solidFill>
                  <a:srgbClr val="333333"/>
                </a:solidFill>
                <a:latin typeface="Times New Roman"/>
              </a:rPr>
              <a:t>Live acoustic waveform visualization and continuous stream of local VOSK transcribed tokens.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333333"/>
                </a:solidFill>
                <a:latin typeface="Times New Roman"/>
              </a:rPr>
              <a:t>3. Trigger Alert &amp; Q&amp;A Panel:  </a:t>
            </a:r>
            <a:r>
              <a:rPr sz="1050" b="0">
                <a:solidFill>
                  <a:srgbClr val="333333"/>
                </a:solidFill>
                <a:latin typeface="Times New Roman"/>
              </a:rPr>
              <a:t>Displays captured instructor query ('Justin, can you explain how paging prevents external fragmentation?') and GPT-4o-mini answer auto-submitted to Meet chat in 3.6s.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51560"/>
            <a:ext cx="77724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333333"/>
                </a:solidFill>
                <a:latin typeface="Times New Roman"/>
              </a:defRPr>
            </a:pPr>
            <a:r>
              <a:t>Implementation: Application Screens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6327648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>
                <a:solidFill>
                  <a:srgbClr val="666666"/>
                </a:solidFill>
                <a:latin typeface="Times New Roman"/>
              </a:defRPr>
            </a:pPr>
            <a:r>
              <a:t>18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691640"/>
            <a:ext cx="832104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8229600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074920"/>
            <a:ext cx="82296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050" b="1">
                <a:solidFill>
                  <a:srgbClr val="333333"/>
                </a:solidFill>
                <a:latin typeface="Times New Roman"/>
              </a:rPr>
              <a:t>Automated Google Meet In-Call Entry:  </a:t>
            </a:r>
            <a:r>
              <a:rPr sz="1050" b="0">
                <a:solidFill>
                  <a:srgbClr val="333333"/>
                </a:solidFill>
                <a:latin typeface="Times New Roman"/>
              </a:rPr>
              <a:t>Selenium WebDriver launched Chrome, dismissed permission modals, entered user name, and successfully clicked 'Ask to join'.</a:t>
            </a:r>
          </a:p>
          <a:p>
            <a:pPr>
              <a:spcAft>
                <a:spcPts val="300"/>
              </a:spcAft>
            </a:pPr>
            <a:r>
              <a:rPr sz="1050" b="1">
                <a:solidFill>
                  <a:srgbClr val="333333"/>
                </a:solidFill>
                <a:latin typeface="Times New Roman"/>
              </a:rPr>
              <a:t>Autonomous In-Call Chat Injection:  </a:t>
            </a:r>
            <a:r>
              <a:rPr sz="1050" b="0">
                <a:solidFill>
                  <a:srgbClr val="333333"/>
                </a:solidFill>
                <a:latin typeface="Times New Roman"/>
              </a:rPr>
              <a:t>Upon trigger recognition, Selenium located the chat input DOM element and typed the synthesized explanation in 0.8s.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333333"/>
                </a:solidFill>
                <a:latin typeface="Times New Roman"/>
              </a:rPr>
              <a:t>Verifiable Classroom Outcome:  </a:t>
            </a:r>
            <a:r>
              <a:rPr sz="1050" b="0">
                <a:solidFill>
                  <a:srgbClr val="333333"/>
                </a:solidFill>
                <a:latin typeface="Times New Roman"/>
              </a:rPr>
              <a:t>The instructor accepted the technically grounded explanation of memory paging and fragmentation without realizing assistive intervention occurred.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51560"/>
            <a:ext cx="77724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333333"/>
                </a:solidFill>
                <a:latin typeface="Times New Roman"/>
              </a:defRPr>
            </a:pPr>
            <a:r>
              <a:t>Results: Latency and Resource Usage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6327648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>
                <a:solidFill>
                  <a:srgbClr val="666666"/>
                </a:solidFill>
                <a:latin typeface="Times New Roman"/>
              </a:defRPr>
            </a:pPr>
            <a:r>
              <a:t>19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91640"/>
          <a:ext cx="822960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011680"/>
                <a:gridCol w="1920240"/>
                <a:gridCol w="2011680"/>
              </a:tblGrid>
              <a:tr h="42291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Processing Pipeline Stage</a:t>
                      </a:r>
                    </a:p>
                  </a:txBody>
                  <a:tcPr>
                    <a:solidFill>
                      <a:srgbClr val="BC31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Execution Subsystem</a:t>
                      </a:r>
                    </a:p>
                  </a:txBody>
                  <a:tcPr>
                    <a:solidFill>
                      <a:srgbClr val="BC31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Measured Latency</a:t>
                      </a:r>
                    </a:p>
                  </a:txBody>
                  <a:tcPr>
                    <a:solidFill>
                      <a:srgbClr val="BC31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Engineering Target</a:t>
                      </a:r>
                    </a:p>
                  </a:txBody>
                  <a:tcPr>
                    <a:solidFill>
                      <a:srgbClr val="BC312C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Audio Ingestion &amp; Chunking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PyAudio &amp; SoundDevice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125 ms – 250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&lt; 300 ms (Met)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DSP Bandpass Filtering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SciPy Butterworth Filter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15 ms – 25 ms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&lt; 50 ms (Met)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VOSK Offline Speech Decoding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Kaldi Acoustic WFST Graph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350 ms – 480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&lt; 500 ms (Met)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Trigger &amp; Intent Detection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Levenshtein Distance Engine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8 ms – 15 ms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&lt; 20 ms (Met)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Prompt Synthesis &amp; OpenAI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OpenAI GPT-4o-mini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1,850 ms – 2,650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&lt; 3,000 ms (Met)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Selenium DOM Chat Injection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Selenium WebDriver Chrome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650 ms – 920 ms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&lt; 1,200 ms (Met)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Total End-to-End Response 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Full Pipeline (Audio -&gt; Chat)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3.20 s – 4.54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3.0 s – 5.0 s (Met)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5212080"/>
            <a:ext cx="8229600" cy="86868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5257800"/>
            <a:ext cx="7955279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333333"/>
                </a:solidFill>
                <a:latin typeface="Times New Roman"/>
              </a:defRPr>
            </a:pPr>
            <a:r>
              <a:t>Host Hardware Resource Footprint Benchmarks: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333333"/>
                </a:solidFill>
                <a:latin typeface="Times New Roman"/>
              </a:rPr>
              <a:t>Memory (RAM):  </a:t>
            </a:r>
            <a:r>
              <a:rPr sz="1000" b="0">
                <a:solidFill>
                  <a:srgbClr val="333333"/>
                </a:solidFill>
                <a:latin typeface="Times New Roman"/>
              </a:rPr>
              <a:t>1.18 GB – 1.34 GB total usage (well below 1.50 GB budget) | CPU Load: 18% – 26% on Intel i5 (leaves &gt; 70% free) | Dedicated GPU: 0.0% (strictly software-only).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51560"/>
            <a:ext cx="77724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333333"/>
                </a:solidFill>
                <a:latin typeface="Times New Roman"/>
              </a:defRPr>
            </a:pPr>
            <a:r>
              <a:t>Results: Testing and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6327648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>
                <a:solidFill>
                  <a:srgbClr val="666666"/>
                </a:solidFill>
                <a:latin typeface="Times New Roman"/>
              </a:defRPr>
            </a:pPr>
            <a:r>
              <a:t>20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91640"/>
            <a:ext cx="192024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C3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192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BC312C"/>
                </a:solidFill>
                <a:latin typeface="Times New Roman"/>
              </a:defRPr>
            </a:pPr>
            <a:r>
              <a:t>10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92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66666"/>
                </a:solidFill>
                <a:latin typeface="Times New Roman"/>
              </a:defRPr>
            </a:pPr>
            <a:r>
              <a:t>Subsystems Fully Verified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60320" y="1691640"/>
            <a:ext cx="192024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0" y="1737360"/>
            <a:ext cx="192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E5F8A"/>
                </a:solidFill>
                <a:latin typeface="Times New Roman"/>
              </a:defRPr>
            </a:pPr>
            <a:r>
              <a:t>100%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2286000"/>
            <a:ext cx="192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66666"/>
                </a:solidFill>
                <a:latin typeface="Times New Roman"/>
              </a:defRPr>
            </a:pPr>
            <a:r>
              <a:t>Functional Tests Passed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691640"/>
            <a:ext cx="192024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F8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737360"/>
            <a:ext cx="192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3F8F5C"/>
                </a:solidFill>
                <a:latin typeface="Times New Roman"/>
              </a:defRPr>
            </a:pPr>
            <a:r>
              <a:t>3.6 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286000"/>
            <a:ext cx="192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66666"/>
                </a:solidFill>
                <a:latin typeface="Times New Roman"/>
              </a:defRPr>
            </a:pPr>
            <a:r>
              <a:t>Average Live Response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66560" y="1691640"/>
            <a:ext cx="192024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8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1737360"/>
            <a:ext cx="192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C98A2C"/>
                </a:solidFill>
                <a:latin typeface="Times New Roman"/>
              </a:defRPr>
            </a:pPr>
            <a: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2286000"/>
            <a:ext cx="192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66666"/>
                </a:solidFill>
                <a:latin typeface="Times New Roman"/>
              </a:defRPr>
            </a:pPr>
            <a:r>
              <a:t>GPU Accelerators Needed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457200" y="2926080"/>
          <a:ext cx="82296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194560"/>
                <a:gridCol w="4023360"/>
                <a:gridCol w="1097280"/>
              </a:tblGrid>
              <a:tr h="5181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Test ID</a:t>
                      </a:r>
                    </a:p>
                  </a:txBody>
                  <a:tcPr>
                    <a:solidFill>
                      <a:srgbClr val="BC31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Function Under Test</a:t>
                      </a:r>
                    </a:p>
                  </a:txBody>
                  <a:tcPr>
                    <a:solidFill>
                      <a:srgbClr val="BC31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Observed Empirical Result</a:t>
                      </a:r>
                    </a:p>
                  </a:txBody>
                  <a:tcPr>
                    <a:solidFill>
                      <a:srgbClr val="BC31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BC312C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TC-01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Automated Meet Access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Chrome launches, dismisses permission modals, enters lobby cleanly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TC-02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Virtual Audio Capture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Clean 16 kHz mono 16-bit PCM captured via VB-Cable with zero echo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TC-03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Offline VOSK STT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Transcribes speech locally on CPU (&lt;500 ms latency; ~22% CPU load)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TC-05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Fuzzy Trigger Detection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Compound lookahead resolves 'just in' to 'Justin' (Sim &gt;= 0.80, Conf &gt;= 0.70)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TC-07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In-Call Chat Injection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Selenium locates chat textarea and dispatches technical answer in 0.8s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51560"/>
            <a:ext cx="77724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333333"/>
                </a:solidFill>
                <a:latin typeface="Times New Roman"/>
              </a:defRPr>
            </a:pPr>
            <a:r>
              <a:t>Results: Economic Cost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6327648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>
                <a:solidFill>
                  <a:srgbClr val="666666"/>
                </a:solidFill>
                <a:latin typeface="Times New Roman"/>
              </a:defRPr>
            </a:pPr>
            <a:r>
              <a:t>21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91640"/>
          <a:ext cx="822960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463040"/>
                <a:gridCol w="1371600"/>
                <a:gridCol w="1554480"/>
                <a:gridCol w="1554480"/>
              </a:tblGrid>
              <a:tr h="6629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Architecture Paradigm</a:t>
                      </a:r>
                    </a:p>
                  </a:txBody>
                  <a:tcPr>
                    <a:solidFill>
                      <a:srgbClr val="BC31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Continuous Listening</a:t>
                      </a:r>
                    </a:p>
                  </a:txBody>
                  <a:tcPr>
                    <a:solidFill>
                      <a:srgbClr val="BC31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In-Meeting Q&amp;A</a:t>
                      </a:r>
                    </a:p>
                  </a:txBody>
                  <a:tcPr>
                    <a:solidFill>
                      <a:srgbClr val="BC31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Post-Meeting Notes</a:t>
                      </a:r>
                    </a:p>
                  </a:txBody>
                  <a:tcPr>
                    <a:solidFill>
                      <a:srgbClr val="BC31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Monthly Cost (60 Classes)</a:t>
                      </a:r>
                    </a:p>
                  </a:txBody>
                  <a:tcPr>
                    <a:solidFill>
                      <a:srgbClr val="BC312C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Pure Cloud Streaming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(Google STT + GPT-4)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$0.360 / hr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($0.006/min)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$0.008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(avg 2 queries)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$0.015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(audio + notes)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$22.98 / month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(per student)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AI Student Agent Hybrid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(Local VOSK + GPT-4o-mini)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$0.000 / hr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(100% Free on CPU)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$0.001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(GPT-4o-mini)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$0.006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(Whisper + notes)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$0.42 / month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(per student)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Financial Savings &amp;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Efficiency Gain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100.0% Reduction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in Live Listening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87.5% Reduction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in Q&amp;A 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60.0% Reduction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in Post-Notes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98.17% Total Cost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Reduction (&gt;98% Savings)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4572000"/>
            <a:ext cx="8229600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F8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663440"/>
            <a:ext cx="7863840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3F8F5C"/>
                </a:solidFill>
                <a:latin typeface="Times New Roman"/>
              </a:defRPr>
            </a:pPr>
            <a:r>
              <a:t>Key Economic &amp; Architectural Takeaways: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333333"/>
                </a:solidFill>
                <a:latin typeface="Times New Roman"/>
              </a:rPr>
              <a:t>98.17% Operational Cost Reduction:  </a:t>
            </a:r>
            <a:r>
              <a:rPr sz="1000" b="0">
                <a:solidFill>
                  <a:srgbClr val="333333"/>
                </a:solidFill>
                <a:latin typeface="Times New Roman"/>
              </a:rPr>
              <a:t>Offloading continuous acoustic listening to local CPU eliminates ongoing cloud ASR meter charges ($0.36/hr). Paid cloud APIs are invoked strictly on verified trigger events.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333333"/>
                </a:solidFill>
                <a:latin typeface="Times New Roman"/>
              </a:rPr>
              <a:t>Affordability for Students:  </a:t>
            </a:r>
            <a:r>
              <a:rPr sz="1000" b="0">
                <a:solidFill>
                  <a:srgbClr val="333333"/>
                </a:solidFill>
                <a:latin typeface="Times New Roman"/>
              </a:rPr>
              <a:t>A full semester of 60 lecture hours costs less than $0.45 total on AI Student Agent, compared to ~$23.00 on pure cloud pipelines, proving large-scale accessibility.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51560"/>
            <a:ext cx="77724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333333"/>
                </a:solidFill>
                <a:latin typeface="Times New Roman"/>
              </a:defRPr>
            </a:pPr>
            <a:r>
              <a:t>Project Development Timeline (Gantt Chart)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6327648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>
                <a:solidFill>
                  <a:srgbClr val="666666"/>
                </a:solidFill>
                <a:latin typeface="Times New Roman"/>
              </a:defRPr>
            </a:pPr>
            <a:r>
              <a:t>22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691640"/>
            <a:ext cx="832104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8229600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074920"/>
            <a:ext cx="82296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050" b="1">
                <a:solidFill>
                  <a:srgbClr val="333333"/>
                </a:solidFill>
                <a:latin typeface="Times New Roman"/>
              </a:rPr>
              <a:t>Phase 1 (Weeks 1–3):  </a:t>
            </a:r>
            <a:r>
              <a:rPr sz="1050" b="0">
                <a:solidFill>
                  <a:srgbClr val="333333"/>
                </a:solidFill>
                <a:latin typeface="Times New Roman"/>
              </a:rPr>
              <a:t>Problem Formulation, Requirements Elicitation, Literature Survey (18 papers) and 5-Layer Architecture design.</a:t>
            </a:r>
          </a:p>
          <a:p>
            <a:pPr>
              <a:spcAft>
                <a:spcPts val="300"/>
              </a:spcAft>
            </a:pPr>
            <a:r>
              <a:rPr sz="1050" b="1">
                <a:solidFill>
                  <a:srgbClr val="333333"/>
                </a:solidFill>
                <a:latin typeface="Times New Roman"/>
              </a:rPr>
              <a:t>Phase 2 &amp; 3 (Weeks 4–10):  </a:t>
            </a:r>
            <a:r>
              <a:rPr sz="1050" b="0">
                <a:solidFill>
                  <a:srgbClr val="333333"/>
                </a:solidFill>
                <a:latin typeface="Times New Roman"/>
              </a:rPr>
              <a:t>Audio Loopback (VB-Cable), PyAudio streaming, SciPy filter, local VOSK setup, Selenium automation, and Levenshtein trigger engine.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333333"/>
                </a:solidFill>
                <a:latin typeface="Times New Roman"/>
              </a:rPr>
              <a:t>Phase 4 &amp; 5 (Weeks 11–16):  </a:t>
            </a:r>
            <a:r>
              <a:rPr sz="1050" b="0">
                <a:solidFill>
                  <a:srgbClr val="333333"/>
                </a:solidFill>
                <a:latin typeface="Times New Roman"/>
              </a:rPr>
              <a:t>Post-meeting notes (WAV serialization, Whisper-1, Notion REST API), stress testing, Black Book writing, and conference paper submission.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51560"/>
            <a:ext cx="77724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333333"/>
                </a:solidFill>
                <a:latin typeface="Times New Roman"/>
              </a:defRPr>
            </a:pPr>
            <a:r>
              <a:t>Advantages and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6327648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>
                <a:solidFill>
                  <a:srgbClr val="666666"/>
                </a:solidFill>
                <a:latin typeface="Times New Roman"/>
              </a:defRPr>
            </a:pPr>
            <a:r>
              <a:t>23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737360"/>
            <a:ext cx="3977639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F8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36118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F8F5C"/>
                </a:solidFill>
                <a:latin typeface="Times New Roman"/>
              </a:defRPr>
            </a:pPr>
            <a:r>
              <a:t>System Advantages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333333"/>
                </a:solidFill>
                <a:latin typeface="Times New Roman"/>
              </a:rPr>
              <a:t>Cognitive Load Reduction:  </a:t>
            </a:r>
            <a:r>
              <a:rPr sz="950" b="0">
                <a:solidFill>
                  <a:srgbClr val="333333"/>
                </a:solidFill>
                <a:latin typeface="Times New Roman"/>
              </a:rPr>
              <a:t>Eliminates split-attention between note taking and listening, freeing mental bandwidth for conceptual learning.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333333"/>
                </a:solidFill>
                <a:latin typeface="Times New Roman"/>
              </a:rPr>
              <a:t>Zero-Cloud-Cost Listening:  </a:t>
            </a:r>
            <a:r>
              <a:rPr sz="950" b="0">
                <a:solidFill>
                  <a:srgbClr val="333333"/>
                </a:solidFill>
                <a:latin typeface="Times New Roman"/>
              </a:rPr>
              <a:t>Local CPU speech decoding via VOSK reduces monthly compute expenses by 98.17% ($0.42 vs $22.98).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333333"/>
                </a:solidFill>
                <a:latin typeface="Times New Roman"/>
              </a:rPr>
              <a:t>Phonetic Ambiguity Robustness:  </a:t>
            </a:r>
            <a:r>
              <a:rPr sz="950" b="0">
                <a:solidFill>
                  <a:srgbClr val="333333"/>
                </a:solidFill>
                <a:latin typeface="Times New Roman"/>
              </a:rPr>
              <a:t>Levenshtein distance + compound lookahead resolves homophones ('just in' -&gt; 'Justin') with zero false activations.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333333"/>
                </a:solidFill>
                <a:latin typeface="Times New Roman"/>
              </a:rPr>
              <a:t>Contextually Grounded Answering:  </a:t>
            </a:r>
            <a:r>
              <a:rPr sz="950" b="0">
                <a:solidFill>
                  <a:srgbClr val="333333"/>
                </a:solidFill>
                <a:latin typeface="Times New Roman"/>
              </a:rPr>
              <a:t>Rolling 50-word context window prevents LLM hallucinations during in-class professor cold-calls.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333333"/>
                </a:solidFill>
                <a:latin typeface="Times New Roman"/>
              </a:rPr>
              <a:t>Automated Knowledge Persistence:  </a:t>
            </a:r>
            <a:r>
              <a:rPr sz="950" b="0">
                <a:solidFill>
                  <a:srgbClr val="333333"/>
                </a:solidFill>
                <a:latin typeface="Times New Roman"/>
              </a:rPr>
              <a:t>Synthesizes tripartite notes and syncs formatted blocks to Notion via REST API without student effort.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333333"/>
                </a:solidFill>
                <a:latin typeface="Times New Roman"/>
              </a:rPr>
              <a:t>Consumer Hardware Viability:  </a:t>
            </a:r>
            <a:r>
              <a:rPr sz="950" b="0">
                <a:solidFill>
                  <a:srgbClr val="333333"/>
                </a:solidFill>
                <a:latin typeface="Times New Roman"/>
              </a:rPr>
              <a:t>Operates smoothly on standard 8GB RAM laptops with zero dedicated GPU requirements.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09160" y="1737360"/>
            <a:ext cx="3977639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C3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92040" y="1874519"/>
            <a:ext cx="36118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BC312C"/>
                </a:solidFill>
                <a:latin typeface="Times New Roman"/>
              </a:defRPr>
            </a:pPr>
            <a:r>
              <a:t>Operational Limitations</a:t>
            </a:r>
          </a:p>
          <a:p>
            <a:pPr>
              <a:spcAft>
                <a:spcPts val="500"/>
              </a:spcAft>
            </a:pPr>
            <a:r>
              <a:rPr sz="950" b="1">
                <a:solidFill>
                  <a:srgbClr val="333333"/>
                </a:solidFill>
                <a:latin typeface="Times New Roman"/>
              </a:rPr>
              <a:t>Web DOM Selector Volatility:  </a:t>
            </a:r>
            <a:r>
              <a:rPr sz="950" b="0">
                <a:solidFill>
                  <a:srgbClr val="333333"/>
                </a:solidFill>
                <a:latin typeface="Times New Roman"/>
              </a:rPr>
              <a:t>Major UI redesigns by Google to Meet's DOM can temporarily affect XPath button clicks and chat textarea injection.</a:t>
            </a:r>
          </a:p>
          <a:p>
            <a:pPr>
              <a:spcAft>
                <a:spcPts val="500"/>
              </a:spcAft>
            </a:pPr>
            <a:r>
              <a:rPr sz="950" b="1">
                <a:solidFill>
                  <a:srgbClr val="333333"/>
                </a:solidFill>
                <a:latin typeface="Times New Roman"/>
              </a:rPr>
              <a:t>Acoustic Noise Sensitivity:  </a:t>
            </a:r>
            <a:r>
              <a:rPr sz="950" b="0">
                <a:solidFill>
                  <a:srgbClr val="333333"/>
                </a:solidFill>
                <a:latin typeface="Times New Roman"/>
              </a:rPr>
              <a:t>VOSK local acoustic decoding accuracy degrades under severe ambient room noise or heavy VoIP packet loss.</a:t>
            </a:r>
          </a:p>
          <a:p>
            <a:pPr>
              <a:spcAft>
                <a:spcPts val="500"/>
              </a:spcAft>
            </a:pPr>
            <a:r>
              <a:rPr sz="950" b="1">
                <a:solidFill>
                  <a:srgbClr val="333333"/>
                </a:solidFill>
                <a:latin typeface="Times New Roman"/>
              </a:rPr>
              <a:t>Cloud API Network Latency Jitter:  </a:t>
            </a:r>
            <a:r>
              <a:rPr sz="950" b="0">
                <a:solidFill>
                  <a:srgbClr val="333333"/>
                </a:solidFill>
                <a:latin typeface="Times New Roman"/>
              </a:rPr>
              <a:t>OpenAI API round-trips average 2.1s, but severe network congestion can push latency to 4.5s near conversational limits.</a:t>
            </a:r>
          </a:p>
          <a:p>
            <a:pPr>
              <a:spcAft>
                <a:spcPts val="500"/>
              </a:spcAft>
            </a:pPr>
            <a:r>
              <a:rPr sz="950" b="1">
                <a:solidFill>
                  <a:srgbClr val="333333"/>
                </a:solidFill>
                <a:latin typeface="Times New Roman"/>
              </a:rPr>
              <a:t>Whisper File Upload Limit:  </a:t>
            </a:r>
            <a:r>
              <a:rPr sz="950" b="0">
                <a:solidFill>
                  <a:srgbClr val="333333"/>
                </a:solidFill>
                <a:latin typeface="Times New Roman"/>
              </a:rPr>
              <a:t>OpenAI Whisper-1 enforces a strict 25.0 MB payload limit (~12 minutes of 16 kHz WAV), requiring audio chunking for longer sessions.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333333"/>
                </a:solidFill>
                <a:latin typeface="Times New Roman"/>
              </a:rPr>
              <a:t>OS Virtual Audio Dependency:  </a:t>
            </a:r>
            <a:r>
              <a:rPr sz="950" b="0">
                <a:solidFill>
                  <a:srgbClr val="333333"/>
                </a:solidFill>
                <a:latin typeface="Times New Roman"/>
              </a:rPr>
              <a:t>Relies on Windows Core Audio &amp; VB-Audio Cable; deployment on macOS or Linux requires native virtual daemons.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51560"/>
            <a:ext cx="77724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333333"/>
                </a:solidFill>
                <a:latin typeface="Times New Roman"/>
              </a:defRPr>
            </a:pPr>
            <a:r>
              <a:t>Conclusion and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6327648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>
                <a:solidFill>
                  <a:srgbClr val="666666"/>
                </a:solidFill>
                <a:latin typeface="Times New Roman"/>
              </a:defRPr>
            </a:pPr>
            <a:r>
              <a:t>24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91640"/>
            <a:ext cx="8229600" cy="137160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786384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333333"/>
                </a:solidFill>
                <a:latin typeface="Times New Roman"/>
              </a:defRPr>
            </a:pPr>
            <a:r>
              <a:t>Project Conclusion:</a:t>
            </a:r>
          </a:p>
          <a:p>
            <a:pPr>
              <a:defRPr sz="1050">
                <a:solidFill>
                  <a:srgbClr val="333333"/>
                </a:solidFill>
                <a:latin typeface="Times New Roman"/>
              </a:defRPr>
            </a:pPr>
            <a:r>
              <a:t>All primary objectives were achieved: AI Student Agent was successfully developed and verified as an autonomous, multi-threaded assistant for Google Meet. By harmonizing edge acoustic decoding (VOSK/Kaldi) with frontier reasoning (GPT-4o-mini &amp; Whisper), the system achieves sub-4s in-call response times and delivers 98.17% cloud cost reductions ($0.42/month) on standard consumer PC hardware without dedicated GPU acceleration.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246120"/>
            <a:ext cx="260604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C3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3355848"/>
            <a:ext cx="23317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BC312C"/>
                </a:solidFill>
                <a:latin typeface="Times New Roman"/>
              </a:defRPr>
            </a:pPr>
            <a:r>
              <a:t>Dynamic Audio Chunking</a:t>
            </a:r>
          </a:p>
          <a:p>
            <a:pPr>
              <a:defRPr sz="950">
                <a:solidFill>
                  <a:srgbClr val="333333"/>
                </a:solidFill>
                <a:latin typeface="Times New Roman"/>
              </a:defRPr>
            </a:pPr>
            <a:r>
              <a:t>Automate PyDub temporal segmentation to process multi-hour WAVs within Whisper's 25 MB limit.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64408" y="3246120"/>
            <a:ext cx="260604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01568" y="3355848"/>
            <a:ext cx="23317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2E5F8A"/>
                </a:solidFill>
                <a:latin typeface="Times New Roman"/>
              </a:defRPr>
            </a:pPr>
            <a:r>
              <a:t>Course-Grounded RAG</a:t>
            </a:r>
          </a:p>
          <a:p>
            <a:pPr>
              <a:defRPr sz="950">
                <a:solidFill>
                  <a:srgbClr val="333333"/>
                </a:solidFill>
                <a:latin typeface="Times New Roman"/>
              </a:defRPr>
            </a:pPr>
            <a:r>
              <a:t>Index course syllabus and textbook PDFs via ChromaDB / FAISS for deep factual grounding.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71616" y="3246120"/>
            <a:ext cx="260604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F8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08776" y="3355848"/>
            <a:ext cx="23317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3F8F5C"/>
                </a:solidFill>
                <a:latin typeface="Times New Roman"/>
              </a:defRPr>
            </a:pPr>
            <a:r>
              <a:t>Synthetic Spoken Voice (TTS)</a:t>
            </a:r>
          </a:p>
          <a:p>
            <a:pPr>
              <a:defRPr sz="950">
                <a:solidFill>
                  <a:srgbClr val="333333"/>
                </a:solidFill>
                <a:latin typeface="Times New Roman"/>
              </a:defRPr>
            </a:pPr>
            <a:r>
              <a:t>Integrate Edge-TTS / ElevenLabs through a virtual microphone for spoken verbal participation.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690872"/>
            <a:ext cx="260604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8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4800600"/>
            <a:ext cx="23317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C98A2C"/>
                </a:solidFill>
                <a:latin typeface="Times New Roman"/>
              </a:defRPr>
            </a:pPr>
            <a:r>
              <a:t>Longitudinal Knowledge Graph</a:t>
            </a:r>
          </a:p>
          <a:p>
            <a:pPr>
              <a:defRPr sz="950">
                <a:solidFill>
                  <a:srgbClr val="333333"/>
                </a:solidFill>
                <a:latin typeface="Times New Roman"/>
              </a:defRPr>
            </a:pPr>
            <a:r>
              <a:t>Track misconception patterns over time to dynamically personalize review summaries.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64408" y="4690872"/>
            <a:ext cx="260604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01568" y="4800600"/>
            <a:ext cx="23317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2E5F8A"/>
                </a:solidFill>
                <a:latin typeface="Times New Roman"/>
              </a:defRPr>
            </a:pPr>
            <a:r>
              <a:t>Cross-Platform Conferencing</a:t>
            </a:r>
          </a:p>
          <a:p>
            <a:pPr>
              <a:defRPr sz="950">
                <a:solidFill>
                  <a:srgbClr val="333333"/>
                </a:solidFill>
                <a:latin typeface="Times New Roman"/>
              </a:defRPr>
            </a:pPr>
            <a:r>
              <a:t>Extend automation adapters to Zoom, MS Teams, Cisco Webex, macOS and Linux.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71616" y="4690872"/>
            <a:ext cx="260604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C3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08776" y="4800600"/>
            <a:ext cx="23317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BC312C"/>
                </a:solidFill>
                <a:latin typeface="Times New Roman"/>
              </a:defRPr>
            </a:pPr>
            <a:r>
              <a:t>On-Device Quantized SLMs</a:t>
            </a:r>
          </a:p>
          <a:p>
            <a:pPr>
              <a:defRPr sz="950">
                <a:solidFill>
                  <a:srgbClr val="333333"/>
                </a:solidFill>
                <a:latin typeface="Times New Roman"/>
              </a:defRPr>
            </a:pPr>
            <a:r>
              <a:t>Deploy local quantized SLMs (Phi-3, Llama 3.2 3B) for completely offline edge reasoning.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51560"/>
            <a:ext cx="77724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333333"/>
                </a:solidFill>
                <a:latin typeface="Times New Roman"/>
              </a:defRPr>
            </a:pPr>
            <a:r>
              <a:t>Research Paper Submission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6327648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>
                <a:solidFill>
                  <a:srgbClr val="666666"/>
                </a:solidFill>
                <a:latin typeface="Times New Roman"/>
              </a:defRPr>
            </a:pPr>
            <a:r>
              <a:t>25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91640"/>
            <a:ext cx="8229600" cy="1417320"/>
          </a:xfrm>
          <a:prstGeom prst="roundRect">
            <a:avLst/>
          </a:prstGeom>
          <a:solidFill>
            <a:srgbClr val="FDF2F2"/>
          </a:solidFill>
          <a:ln w="19050">
            <a:solidFill>
              <a:srgbClr val="BC3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7863840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BC312C"/>
                </a:solidFill>
                <a:latin typeface="Times New Roman"/>
              </a:defRPr>
            </a:pPr>
            <a:r>
              <a:t>Scholarly Research Paper Prepared from Capstone Project Work</a:t>
            </a:r>
          </a:p>
          <a:p>
            <a:pPr>
              <a:defRPr sz="1050">
                <a:solidFill>
                  <a:srgbClr val="333333"/>
                </a:solidFill>
                <a:latin typeface="Times New Roman"/>
              </a:defRPr>
            </a:pPr>
            <a:r>
              <a:t>In accordance with academic guidelines of the Information Technology Department, MPSTME, SVKM’s NMIMS, a research manuscript documenting the software architecture, digital loopback routing, fuzzy phonetic acoustic confidence gating, and empirical latency benchmarks has been prepared and submitted for peer-reviewed publication.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329184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59436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Item</a:t>
                      </a:r>
                    </a:p>
                  </a:txBody>
                  <a:tcPr>
                    <a:solidFill>
                      <a:srgbClr val="BC31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Details</a:t>
                      </a:r>
                    </a:p>
                  </a:txBody>
                  <a:tcPr>
                    <a:solidFill>
                      <a:srgbClr val="BC312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Paper Title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AI Student Agent: An Autonomous Multi-Threaded Architecture for Real-Time Online Classroom Participation and Lecture Note Synthesis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Target Conference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International Conference on Artificial Intelligence and Emerging Technology 3.0 (AISUMMIT-2026)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Conference Track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Track 1.8 — AI and ML in Autonomous Systems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Authors &amp; Affiliation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Aman Choudhary, Pranav Patil, Mohit Patil, Dr. Pravin Landge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Department of Information Technology, MPSTME, SVKM’s NMIMS Shirpur Campus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Manuscript Status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Prepared and submitted for peer 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51560"/>
            <a:ext cx="77724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333333"/>
                </a:solidFill>
                <a:latin typeface="Times New Roman"/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6327648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>
                <a:solidFill>
                  <a:srgbClr val="666666"/>
                </a:solidFill>
                <a:latin typeface="Times New Roman"/>
              </a:defRPr>
            </a:pPr>
            <a:r>
              <a:t>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91640"/>
            <a:ext cx="3977639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950">
                <a:solidFill>
                  <a:srgbClr val="333333"/>
                </a:solidFill>
                <a:latin typeface="Times New Roman"/>
              </a:defRPr>
            </a:pPr>
            <a:r>
              <a:t>[1] A. Radford, J. W. Kim, T. Xu, G. Brockman, C. McLeavey, and I. Sutskever, “Robust speech recognition via large-scale weak supervision,” in Proc. ICML, PMLR vol. 202, 2023.</a:t>
            </a:r>
          </a:p>
          <a:p>
            <a:pPr>
              <a:spcAft>
                <a:spcPts val="700"/>
              </a:spcAft>
              <a:defRPr sz="950">
                <a:solidFill>
                  <a:srgbClr val="333333"/>
                </a:solidFill>
                <a:latin typeface="Times New Roman"/>
              </a:defRPr>
            </a:pPr>
            <a:r>
              <a:t>[2] D. Povey, A. Ghoshal, G. Boulianne, et al., “The Kaldi speech recognition toolkit,” in Proc. IEEE ASRU Workshop, 2011, pp. 1–4.</a:t>
            </a:r>
          </a:p>
          <a:p>
            <a:pPr>
              <a:spcAft>
                <a:spcPts val="700"/>
              </a:spcAft>
              <a:defRPr sz="950">
                <a:solidFill>
                  <a:srgbClr val="333333"/>
                </a:solidFill>
                <a:latin typeface="Times New Roman"/>
              </a:defRPr>
            </a:pPr>
            <a:r>
              <a:t>[3] Alpha Cephei, “Vosk: Offline open-source speech recognition toolkit,” Alpha Cephei Inc., 2026. [Online]. Available: https://alphacephei.com/vosk/.</a:t>
            </a:r>
          </a:p>
          <a:p>
            <a:pPr>
              <a:spcAft>
                <a:spcPts val="700"/>
              </a:spcAft>
              <a:defRPr sz="950">
                <a:solidFill>
                  <a:srgbClr val="333333"/>
                </a:solidFill>
                <a:latin typeface="Times New Roman"/>
              </a:defRPr>
            </a:pPr>
            <a:r>
              <a:t>[4] Y. Wang, C. S. Leow, A. Kobayashi, et al., “ExKaldi-RT: A real-time automatic speech recognition extension toolkit of Kaldi,” arXiv:2104.01384, 2021.</a:t>
            </a:r>
          </a:p>
          <a:p>
            <a:pPr>
              <a:spcAft>
                <a:spcPts val="700"/>
              </a:spcAft>
              <a:defRPr sz="950">
                <a:solidFill>
                  <a:srgbClr val="333333"/>
                </a:solidFill>
                <a:latin typeface="Times New Roman"/>
              </a:defRPr>
            </a:pPr>
            <a:r>
              <a:t>[5] A. Dewan, M. Ziemski, H. Meylan, et al., “Developing automatic verbatim transcripts for international multilingual meetings,” arXiv:2309.15609, 2023.</a:t>
            </a:r>
          </a:p>
          <a:p>
            <a:pPr>
              <a:spcAft>
                <a:spcPts val="700"/>
              </a:spcAft>
              <a:defRPr sz="950">
                <a:solidFill>
                  <a:srgbClr val="333333"/>
                </a:solidFill>
                <a:latin typeface="Times New Roman"/>
              </a:defRPr>
            </a:pPr>
            <a:r>
              <a:t>[6] M. T. R. Laskar, X.-Y. Fu, C. Chen, and S. Bhushan TN, “Building real-world meeting summarization systems using LLMs,” arXiv:2310.19233, 2023.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09160" y="1691640"/>
            <a:ext cx="3977639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950">
                <a:solidFill>
                  <a:srgbClr val="333333"/>
                </a:solidFill>
                <a:latin typeface="Times New Roman"/>
              </a:defRPr>
            </a:pPr>
            <a:r>
              <a:t>[7] V. Rennard, G. Shang, J. Hunter, and M. Vazirgiannis, “Abstractive meeting summarization: A survey,” arXiv:2208.04163, 2022.</a:t>
            </a:r>
          </a:p>
          <a:p>
            <a:pPr>
              <a:spcAft>
                <a:spcPts val="700"/>
              </a:spcAft>
              <a:defRPr sz="950">
                <a:solidFill>
                  <a:srgbClr val="333333"/>
                </a:solidFill>
                <a:latin typeface="Times New Roman"/>
              </a:defRPr>
            </a:pPr>
            <a:r>
              <a:t>[8] M. Zhong, D. Yin, T. Yu, et al., “QMSum: A new benchmark for query-based multi-domain meeting summarization,” in Proc. NAACL, 2021.</a:t>
            </a:r>
          </a:p>
          <a:p>
            <a:pPr>
              <a:spcAft>
                <a:spcPts val="700"/>
              </a:spcAft>
              <a:defRPr sz="950">
                <a:solidFill>
                  <a:srgbClr val="333333"/>
                </a:solidFill>
                <a:latin typeface="Times New Roman"/>
              </a:defRPr>
            </a:pPr>
            <a:r>
              <a:t>[9] A. Madhavi, A. Chilakamarri, et al., “Automatic running notes generation from audio lecture: A systematic review,” LNNS, Springer, 2025.</a:t>
            </a:r>
          </a:p>
          <a:p>
            <a:pPr>
              <a:spcAft>
                <a:spcPts val="700"/>
              </a:spcAft>
              <a:defRPr sz="950">
                <a:solidFill>
                  <a:srgbClr val="333333"/>
                </a:solidFill>
                <a:latin typeface="Times New Roman"/>
              </a:defRPr>
            </a:pPr>
            <a:r>
              <a:t>[10] K. Taneja, P. Maiti, S. Kakar, et al., “Jill Watson: A virtual teaching assistant powered by ChatGPT,” arXiv:2405.11070, 2024.</a:t>
            </a:r>
          </a:p>
          <a:p>
            <a:pPr>
              <a:spcAft>
                <a:spcPts val="700"/>
              </a:spcAft>
              <a:defRPr sz="950">
                <a:solidFill>
                  <a:srgbClr val="333333"/>
                </a:solidFill>
                <a:latin typeface="Times New Roman"/>
              </a:defRPr>
            </a:pPr>
            <a:r>
              <a:t>[11] L. Labadze, M. Grigolia, and L. Machaidze, “Role of AI chatbots in education: Systematic literature review,” IJETHE, vol. 20, 2023.</a:t>
            </a:r>
          </a:p>
          <a:p>
            <a:pPr>
              <a:spcAft>
                <a:spcPts val="700"/>
              </a:spcAft>
              <a:defRPr sz="950">
                <a:solidFill>
                  <a:srgbClr val="333333"/>
                </a:solidFill>
                <a:latin typeface="Times New Roman"/>
              </a:defRPr>
            </a:pPr>
            <a:r>
              <a:t>[12] OpenAI, “GPT-4o mini: Advancing cost-efficient intelligence,” OpenAI Technical Report, 2024. [Online]. Available: https://openai.com/.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BC312C"/>
                </a:solidFill>
                <a:latin typeface="Times New Roman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1089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333333"/>
                </a:solidFill>
                <a:latin typeface="Times New Roman"/>
              </a:defRPr>
            </a:pPr>
            <a:r>
              <a:t>Questions &amp;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2976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33333"/>
                </a:solidFill>
                <a:latin typeface="Times New Roman"/>
              </a:defRPr>
            </a:pPr>
            <a:r>
              <a:t>AI Student Agent: An Autonomous AI Learning Assistant for Real-Time Online Classes</a:t>
            </a:r>
          </a:p>
          <a:p>
            <a:pPr algn="ctr">
              <a:defRPr sz="1150">
                <a:solidFill>
                  <a:srgbClr val="666666"/>
                </a:solidFill>
                <a:latin typeface="Times New Roman"/>
              </a:defRPr>
            </a:pPr>
            <a:r>
              <a:t>Aman Choudhary (70012300166)  |  Pranav Patil (70012400176)  |  Mohit Patil (70012400178)</a:t>
            </a:r>
          </a:p>
          <a:p>
            <a:pPr algn="ctr">
              <a:defRPr sz="1100">
                <a:solidFill>
                  <a:srgbClr val="BC312C"/>
                </a:solidFill>
                <a:latin typeface="Times New Roman"/>
              </a:defRPr>
            </a:pPr>
            <a:r>
              <a:t>Under the Guidance of Dr. Pravin Landge | Department of Information Technology, MPSTME, SVKM's NMIMS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632764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666666"/>
                </a:solidFill>
                <a:latin typeface="Times New Roman"/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PST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DD92F669E3BB948B2410459B382D1C1" ma:contentTypeVersion="11" ma:contentTypeDescription="Create a new document." ma:contentTypeScope="" ma:versionID="7510663aa7b24efaf97211c7f8cdffde">
  <xsd:schema xmlns:xsd="http://www.w3.org/2001/XMLSchema" xmlns:xs="http://www.w3.org/2001/XMLSchema" xmlns:p="http://schemas.microsoft.com/office/2006/metadata/properties" xmlns:ns2="d7c9eb7d-4314-4226-8597-6eaf917b036e" xmlns:ns3="d17ee105-614b-46f4-b521-c82c6223ede8" targetNamespace="http://schemas.microsoft.com/office/2006/metadata/properties" ma:root="true" ma:fieldsID="ad1d8a133e049bb4bc427b59dda25214" ns2:_="" ns3:_="">
    <xsd:import namespace="d7c9eb7d-4314-4226-8597-6eaf917b036e"/>
    <xsd:import namespace="d17ee105-614b-46f4-b521-c82c6223ed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7c9eb7d-4314-4226-8597-6eaf917b036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d765a431-9415-4219-9cd0-5363948861b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7ee105-614b-46f4-b521-c82c6223ede8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6c0fb695-18a5-4f94-bbb8-e6f19f4f9594}" ma:internalName="TaxCatchAll" ma:showField="CatchAllData" ma:web="d17ee105-614b-46f4-b521-c82c6223ede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7c9eb7d-4314-4226-8597-6eaf917b036e">
      <Terms xmlns="http://schemas.microsoft.com/office/infopath/2007/PartnerControls"/>
    </lcf76f155ced4ddcb4097134ff3c332f>
    <TaxCatchAll xmlns="d17ee105-614b-46f4-b521-c82c6223ede8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F565BC3-E0E1-4978-9C9F-EA82FAA0CD30}">
  <ds:schemaRefs>
    <ds:schemaRef ds:uri="d17ee105-614b-46f4-b521-c82c6223ede8"/>
    <ds:schemaRef ds:uri="d7c9eb7d-4314-4226-8597-6eaf917b036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734B1264-973D-4CB8-8C3D-3E979FC41D2F}">
  <ds:schemaRefs>
    <ds:schemaRef ds:uri="d17ee105-614b-46f4-b521-c82c6223ede8"/>
    <ds:schemaRef ds:uri="d7c9eb7d-4314-4226-8597-6eaf917b036e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206418F6-6918-428F-9FDD-39F71848740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1675</Words>
  <Application>Microsoft Office PowerPoint</Application>
  <PresentationFormat>On-screen Show (4:3)</PresentationFormat>
  <Paragraphs>217</Paragraphs>
  <Slides>16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Noto Sans Symbols</vt:lpstr>
      <vt:lpstr>Times New Roman</vt:lpstr>
      <vt:lpstr>MPSTME</vt:lpstr>
      <vt:lpstr>PowerPoint Presentation</vt:lpstr>
      <vt:lpstr>Problem Statement</vt:lpstr>
      <vt:lpstr>PowerPoint Presentation</vt:lpstr>
      <vt:lpstr>Motivation and Need of the Project</vt:lpstr>
      <vt:lpstr>Objectives</vt:lpstr>
      <vt:lpstr>Scope Of The Project</vt:lpstr>
      <vt:lpstr>PowerPoint Presentation</vt:lpstr>
      <vt:lpstr>Literature Review</vt:lpstr>
      <vt:lpstr>Proposed Methodology</vt:lpstr>
      <vt:lpstr>Tools, Technologies, Software and Hardware</vt:lpstr>
      <vt:lpstr>Feasibility of Implementation</vt:lpstr>
      <vt:lpstr>Project Development Timeline (Gantt Chart)</vt:lpstr>
      <vt:lpstr>Expected Outcomes</vt:lpstr>
      <vt:lpstr>PowerPoint Presentation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B.Tech. / MBA Tech. (----Name of Stream----) Semester: II/IV  Course: Community Services Academic Year: 2021-22</dc:title>
  <dc:creator>Dhirendra Mishra</dc:creator>
  <cp:lastModifiedBy>Abhishek Patil</cp:lastModifiedBy>
  <cp:revision>8</cp:revision>
  <dcterms:created xsi:type="dcterms:W3CDTF">2017-04-11T09:48:28Z</dcterms:created>
  <dcterms:modified xsi:type="dcterms:W3CDTF">2026-08-07T20:10:20Z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0x010100ADD92F669E3BB948B2410459B382D1C1</vt:lpwstr>
  </property>
</Properties>
</file>